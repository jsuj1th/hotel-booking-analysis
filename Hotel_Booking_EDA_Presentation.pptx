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2188952" cy="2103120"/>
          </a:xfrm>
          <a:prstGeom prst="rect">
            <a:avLst/>
          </a:prstGeom>
          <a:solidFill>
            <a:srgbClr val="12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651760"/>
            <a:ext cx="64008" cy="1920240"/>
          </a:xfrm>
          <a:prstGeom prst="rect">
            <a:avLst/>
          </a:prstGeom>
          <a:solidFill>
            <a:srgbClr val="2C7B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651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Hotel Booking Demand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2461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BBD6EE"/>
                </a:solidFill>
              </a:rPr>
              <a:t>Exploratory Data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97763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8AACC"/>
                </a:solidFill>
              </a:rPr>
              <a:t>Sai Nithin Reddy Maddi  ·  Sujith Julakanti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343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88AA"/>
                </a:solidFill>
              </a:rPr>
              <a:t>STAT-654  ·  March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309360"/>
            <a:ext cx="109728" cy="109728"/>
          </a:xfrm>
          <a:prstGeom prst="rect">
            <a:avLst/>
          </a:prstGeom>
          <a:solidFill>
            <a:srgbClr val="2C7B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60120" y="6309360"/>
            <a:ext cx="109728" cy="109728"/>
          </a:xfrm>
          <a:prstGeom prst="rect">
            <a:avLst/>
          </a:prstGeom>
          <a:solidFill>
            <a:srgbClr val="2C7B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417320" y="6309360"/>
            <a:ext cx="109728" cy="109728"/>
          </a:xfrm>
          <a:prstGeom prst="rect">
            <a:avLst/>
          </a:prstGeom>
          <a:solidFill>
            <a:srgbClr val="2C7B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874519" y="6309360"/>
            <a:ext cx="109728" cy="109728"/>
          </a:xfrm>
          <a:prstGeom prst="rect">
            <a:avLst/>
          </a:prstGeom>
          <a:solidFill>
            <a:srgbClr val="2C7B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331720" y="6309360"/>
            <a:ext cx="109728" cy="109728"/>
          </a:xfrm>
          <a:prstGeom prst="rect">
            <a:avLst/>
          </a:prstGeom>
          <a:solidFill>
            <a:srgbClr val="2C7B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88920" y="6309360"/>
            <a:ext cx="109728" cy="109728"/>
          </a:xfrm>
          <a:prstGeom prst="rect">
            <a:avLst/>
          </a:prstGeom>
          <a:solidFill>
            <a:srgbClr val="2C7B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BD6EE"/>
                </a:solidFill>
              </a:rPr>
              <a:t>What we will cover today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2C7B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548640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188720"/>
            <a:ext cx="502920" cy="804672"/>
          </a:xfrm>
          <a:prstGeom prst="rect">
            <a:avLst/>
          </a:prstGeom>
          <a:solidFill>
            <a:srgbClr val="2C7B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35331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234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5C"/>
                </a:solidFill>
              </a:rPr>
              <a:t>Dataset Overview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6002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Source, size, key variables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188720"/>
            <a:ext cx="548640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1188720"/>
            <a:ext cx="502920" cy="804672"/>
          </a:xfrm>
          <a:prstGeom prst="rect">
            <a:avLst/>
          </a:prstGeom>
          <a:solidFill>
            <a:srgbClr val="2C7B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135331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1234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5C"/>
                </a:solidFill>
              </a:rPr>
              <a:t>Target Distribution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20840" y="16002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Overall and by hotel type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194560"/>
            <a:ext cx="548640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2194560"/>
            <a:ext cx="502920" cy="804672"/>
          </a:xfrm>
          <a:prstGeom prst="rect">
            <a:avLst/>
          </a:prstGeom>
          <a:solidFill>
            <a:srgbClr val="2C7B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" y="235915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22402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5C"/>
                </a:solidFill>
              </a:rPr>
              <a:t>Temporal Patterns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26060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Monthly trends in bookings &amp; cancellations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26480" y="2194560"/>
            <a:ext cx="548640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26480" y="2194560"/>
            <a:ext cx="502920" cy="804672"/>
          </a:xfrm>
          <a:prstGeom prst="rect">
            <a:avLst/>
          </a:prstGeom>
          <a:solidFill>
            <a:srgbClr val="2C7B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72200" y="235915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20840" y="22402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5C"/>
                </a:solidFill>
              </a:rPr>
              <a:t>Pricing Analysis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20840" y="26060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Average Daily Rate (ADR) patterns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3200400"/>
            <a:ext cx="548640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74320" y="3200400"/>
            <a:ext cx="502920" cy="804672"/>
          </a:xfrm>
          <a:prstGeom prst="rect">
            <a:avLst/>
          </a:prstGeom>
          <a:solidFill>
            <a:srgbClr val="2C7B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0040" y="336499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3246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5C"/>
                </a:solidFill>
              </a:rPr>
              <a:t>Booking Behavior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" y="36118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Lead time, deposit type, length of stay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26480" y="3200400"/>
            <a:ext cx="548640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26480" y="3200400"/>
            <a:ext cx="502920" cy="804672"/>
          </a:xfrm>
          <a:prstGeom prst="rect">
            <a:avLst/>
          </a:prstGeom>
          <a:solidFill>
            <a:srgbClr val="2C7B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72200" y="336499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0840" y="3246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5C"/>
                </a:solidFill>
              </a:rPr>
              <a:t>Customer Segmentation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20840" y="36118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Market segment, distribution channel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4206240"/>
            <a:ext cx="548640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74320" y="4206240"/>
            <a:ext cx="502920" cy="804672"/>
          </a:xfrm>
          <a:prstGeom prst="rect">
            <a:avLst/>
          </a:prstGeom>
          <a:solidFill>
            <a:srgbClr val="2C7B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0040" y="437083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8680" y="42519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5C"/>
                </a:solidFill>
              </a:rPr>
              <a:t>Guest Profile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80" y="46177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New vs repeat guests, customer type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26480" y="4206240"/>
            <a:ext cx="548640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126480" y="4206240"/>
            <a:ext cx="502920" cy="804672"/>
          </a:xfrm>
          <a:prstGeom prst="rect">
            <a:avLst/>
          </a:prstGeom>
          <a:solidFill>
            <a:srgbClr val="2C7B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72200" y="437083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08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20840" y="42519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5C"/>
                </a:solidFill>
              </a:rPr>
              <a:t>Geographic Insights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20840" y="46177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Top countries and their cancellation rates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4320" y="5212080"/>
            <a:ext cx="548640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274320" y="5212080"/>
            <a:ext cx="502920" cy="804672"/>
          </a:xfrm>
          <a:prstGeom prst="rect">
            <a:avLst/>
          </a:prstGeom>
          <a:solidFill>
            <a:srgbClr val="2C7B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20040" y="537667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09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68680" y="5257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5C"/>
                </a:solidFill>
              </a:rPr>
              <a:t>Correlation Analysis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68680" y="56235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Feature relationships with cancellation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26480" y="5212080"/>
            <a:ext cx="548640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126480" y="5212080"/>
            <a:ext cx="502920" cy="804672"/>
          </a:xfrm>
          <a:prstGeom prst="rect">
            <a:avLst/>
          </a:prstGeom>
          <a:solidFill>
            <a:srgbClr val="2C7B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172200" y="537667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720840" y="5257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5C"/>
                </a:solidFill>
              </a:rPr>
              <a:t>Key Takeaways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720840" y="56235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Summary findings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01 · Dataset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BD6EE"/>
                </a:solidFill>
              </a:rPr>
              <a:t>Hotel Booking Demand — Kaggle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2C7B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eda_dataset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43000"/>
            <a:ext cx="7498079" cy="539496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955279" y="1234440"/>
            <a:ext cx="3931920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92440" y="1325880"/>
            <a:ext cx="36576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333333"/>
                </a:solidFill>
              </a:rPr>
              <a:t>• 119,390 hotel reservations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333333"/>
                </a:solidFill>
              </a:rPr>
              <a:t>• City Hotel &amp; Resort Hotel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333333"/>
                </a:solidFill>
              </a:rPr>
              <a:t>• July 2015 – August 2017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333333"/>
                </a:solidFill>
              </a:rPr>
              <a:t>• 37% overall cancellation rate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333333"/>
                </a:solidFill>
              </a:rPr>
              <a:t>• 32 raw features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333333"/>
                </a:solidFill>
              </a:rPr>
              <a:t>• Source: Kaggle (Jesse Mostipak)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02 · Target Distribution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BD6EE"/>
                </a:solidFill>
              </a:rPr>
              <a:t>Cancellation rates overall and by hotel type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2C7B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eda_hotel_ty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43000"/>
            <a:ext cx="8869680" cy="50292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9235440" y="1234440"/>
            <a:ext cx="2697480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72600" y="1325880"/>
            <a:ext cx="24231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333333"/>
                </a:solidFill>
              </a:rPr>
              <a:t>• 37% of all bookings cancelled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333333"/>
                </a:solidFill>
              </a:rPr>
              <a:t>• City Hotel: ~42% cancel rate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333333"/>
                </a:solidFill>
              </a:rPr>
              <a:t>• Resort Hotel: ~28% cancel rate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333333"/>
                </a:solidFill>
              </a:rPr>
              <a:t>• City Hotel has ~2× more cancellations than Resort Hotel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333333"/>
                </a:solidFill>
              </a:rPr>
              <a:t>• Class imbalance must be addressed in modelling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03 · Temporal Patterns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BD6EE"/>
                </a:solidFill>
              </a:rPr>
              <a:t>Monthly cancellation rate and booking volume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2C7B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eda_monthly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43000"/>
            <a:ext cx="8869680" cy="50292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9235440" y="1234440"/>
            <a:ext cx="269748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72600" y="1325880"/>
            <a:ext cx="2423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333333"/>
                </a:solidFill>
              </a:rPr>
              <a:t>• Peak bookings: Jul–Aug (summer)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333333"/>
                </a:solidFill>
              </a:rPr>
              <a:t>• Highest cancel rate: Jan–Feb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333333"/>
                </a:solidFill>
              </a:rPr>
              <a:t>• Low season bookings show higher relative cancellations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333333"/>
                </a:solidFill>
              </a:rPr>
              <a:t>• Volume &amp; rate move inversely in shoulder months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04 · Lead Time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BD6EE"/>
                </a:solidFill>
              </a:rPr>
              <a:t>How far in advance bookings are made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2C7B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eda_lead_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43000"/>
            <a:ext cx="8869680" cy="50292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9235440" y="1234440"/>
            <a:ext cx="269748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72600" y="1325880"/>
            <a:ext cx="2423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333333"/>
                </a:solidFill>
              </a:rPr>
              <a:t>• Cancelled bookings have significantly longer lead times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333333"/>
                </a:solidFill>
              </a:rPr>
              <a:t>• City Hotel: wider lead time spread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333333"/>
                </a:solidFill>
              </a:rPr>
              <a:t>• Most non-cancelled bookings: &lt; 100 days ahead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333333"/>
                </a:solidFill>
              </a:rPr>
              <a:t>• Lead time is a strong predictor of cancellation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05 · Deposit Type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BD6EE"/>
                </a:solidFill>
              </a:rPr>
              <a:t>Cancellation behaviour by payment policy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2C7B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eda_deposit_ty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43000"/>
            <a:ext cx="8869680" cy="50292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9235440" y="1234440"/>
            <a:ext cx="2697480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72600" y="1325880"/>
            <a:ext cx="24231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333333"/>
                </a:solidFill>
              </a:rPr>
              <a:t>• Non Refund: ~99% cancel rate (!)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333333"/>
                </a:solidFill>
              </a:rPr>
              <a:t>• No Deposit: ~28% cancel rate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333333"/>
                </a:solidFill>
              </a:rPr>
              <a:t>• Refundable: ~22% cancel rate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333333"/>
                </a:solidFill>
              </a:rPr>
              <a:t>• Non-refundable paradox likely due to OTA policy behaviour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333333"/>
                </a:solidFill>
              </a:rPr>
              <a:t>• High predictive signal despite counter-intuitive direction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06 · Pricing Analysis (ADR)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BD6EE"/>
                </a:solidFill>
              </a:rPr>
              <a:t>Average Daily Rate by hotel and month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2C7B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eda_ad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43000"/>
            <a:ext cx="8869680" cy="50292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9235440" y="1234440"/>
            <a:ext cx="269748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72600" y="1325880"/>
            <a:ext cx="2423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333333"/>
                </a:solidFill>
              </a:rPr>
              <a:t>• Resort Hotel ADR peaks in Jul–Aug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333333"/>
                </a:solidFill>
              </a:rPr>
              <a:t>• City Hotel relatively flat throughout year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333333"/>
                </a:solidFill>
              </a:rPr>
              <a:t>• Cancelled bookings slightly higher ADR (on average)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333333"/>
                </a:solidFill>
              </a:rPr>
              <a:t>• ADR strongly follows seasonal demand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07 · Length of Stay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BD6EE"/>
                </a:solidFill>
              </a:rPr>
              <a:t>Booking patterns and cancellation by stay duration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2C7B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eda_stay_du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43000"/>
            <a:ext cx="8869680" cy="50292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9235440" y="1234440"/>
            <a:ext cx="269748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72600" y="1325880"/>
            <a:ext cx="2423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333333"/>
                </a:solidFill>
              </a:rPr>
              <a:t>• 1–3 night stays dominate bookings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333333"/>
                </a:solidFill>
              </a:rPr>
              <a:t>• Very long stays (&gt; 7 nights) have elevated cancel rates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333333"/>
                </a:solidFill>
              </a:rPr>
              <a:t>• Sweet spot: 2–4 nights — lowest cancellation risk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333333"/>
                </a:solidFill>
              </a:rPr>
              <a:t>• Very short (1 night) bookings also cancel less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08 · Customer Behaviour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BD6EE"/>
                </a:solidFill>
              </a:rPr>
              <a:t>Prior cancellations &amp; special requests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2C7B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eda_customer_behavi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43000"/>
            <a:ext cx="8869680" cy="50292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9235440" y="1234440"/>
            <a:ext cx="2697480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72600" y="1325880"/>
            <a:ext cx="24231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333333"/>
                </a:solidFill>
              </a:rPr>
              <a:t>• Prior cancellations → strong predictor of future cancellations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333333"/>
                </a:solidFill>
              </a:rPr>
              <a:t>• 1+ past cancellation → ~80% cancel rate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333333"/>
                </a:solidFill>
              </a:rPr>
              <a:t>• More special requests → lower cancellation risk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333333"/>
                </a:solidFill>
              </a:rPr>
              <a:t>• 0 requests: ~40% cancel vs 3 requests: ~10% cancel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333333"/>
                </a:solidFill>
              </a:rPr>
              <a:t>• Engaged guests are less likely to cancel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09 · Booking Channel &amp; Market Segment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BD6EE"/>
                </a:solidFill>
              </a:rPr>
              <a:t>Where bookings originate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2C7B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eda_market_chan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43000"/>
            <a:ext cx="8869680" cy="50292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9235440" y="1234440"/>
            <a:ext cx="2697480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72600" y="1325880"/>
            <a:ext cx="24231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333333"/>
                </a:solidFill>
              </a:rPr>
              <a:t>• Online TA: highest volume, ~36% cancel rate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333333"/>
                </a:solidFill>
              </a:rPr>
              <a:t>• Groups segment: very low cancel rate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333333"/>
                </a:solidFill>
              </a:rPr>
              <a:t>• Direct &amp; Corporate bookings: lower cancel rates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333333"/>
                </a:solidFill>
              </a:rPr>
              <a:t>• GDS channel: elevated cancellation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333333"/>
                </a:solidFill>
              </a:rPr>
              <a:t>• Channel choice reflects booking intent &amp; commitment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10 · Guest Profile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BD6EE"/>
                </a:solidFill>
              </a:rPr>
              <a:t>Repeat guests and customer type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2C7B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eda_guest_ty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43000"/>
            <a:ext cx="8869680" cy="50292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9235440" y="1234440"/>
            <a:ext cx="2697480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72600" y="1325880"/>
            <a:ext cx="24231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333333"/>
                </a:solidFill>
              </a:rPr>
              <a:t>• New guests: ~38% cancel rate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333333"/>
                </a:solidFill>
              </a:rPr>
              <a:t>• Repeat guests: only ~14% cancel rate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333333"/>
                </a:solidFill>
              </a:rPr>
              <a:t>• Transient customers cancel most (~39%)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333333"/>
                </a:solidFill>
              </a:rPr>
              <a:t>• Group bookings have very low cancellation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333333"/>
                </a:solidFill>
              </a:rPr>
              <a:t>• Loyalty and familiarity reduce cancellation risk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11 · Geographic Insights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BD6EE"/>
                </a:solidFill>
              </a:rPr>
              <a:t>Cancellation rates by country and hotel type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2C7B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eda_country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143000"/>
            <a:ext cx="6858000" cy="53035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138160" y="1234440"/>
            <a:ext cx="3749039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75320" y="1325880"/>
            <a:ext cx="34747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333333"/>
                </a:solidFill>
              </a:rPr>
              <a:t>• PRT (Portugal) dominates bookings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333333"/>
                </a:solidFill>
              </a:rPr>
              <a:t>• Wide variation by country of origin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333333"/>
                </a:solidFill>
              </a:rPr>
              <a:t>• Some countries show near 0% cancel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333333"/>
                </a:solidFill>
              </a:rPr>
              <a:t>• City Hotel generally higher across all countries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333333"/>
                </a:solidFill>
              </a:rPr>
              <a:t>• Geographic origin is a moderate predictor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12 · Correlation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BD6EE"/>
                </a:solidFill>
              </a:rPr>
              <a:t>Feature relationships with cancellation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2C7B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eda_correlation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43000"/>
            <a:ext cx="8869680" cy="50292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9235440" y="1234440"/>
            <a:ext cx="2697480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72600" y="1325880"/>
            <a:ext cx="24231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333333"/>
                </a:solidFill>
              </a:rPr>
              <a:t>• lead_time: strongest positive correlation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333333"/>
                </a:solidFill>
              </a:rPr>
              <a:t>• total_of_special_requests: negative (protective)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333333"/>
                </a:solidFill>
              </a:rPr>
              <a:t>• previous_cancellations: positive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333333"/>
                </a:solidFill>
              </a:rPr>
              <a:t>• adr: slight positive correlation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333333"/>
                </a:solidFill>
              </a:rPr>
              <a:t>• total_nights: minor positive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333333"/>
                </a:solidFill>
              </a:rPr>
              <a:t>• adults/children: near zero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2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2C7B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9728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13 · Key EDA Takeaways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43000"/>
            <a:ext cx="5577840" cy="1097280"/>
          </a:xfrm>
          <a:prstGeom prst="rect">
            <a:avLst/>
          </a:prstGeom>
          <a:solidFill>
            <a:srgbClr val="12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143000"/>
            <a:ext cx="73152" cy="1097280"/>
          </a:xfrm>
          <a:prstGeom prst="rect">
            <a:avLst/>
          </a:prstGeom>
          <a:solidFill>
            <a:srgbClr val="2C7B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23444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Lead Time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64592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BD6EE"/>
                </a:solidFill>
              </a:rPr>
              <a:t>Longer booking windows strongly correlate with cancellations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143000"/>
            <a:ext cx="5577840" cy="1097280"/>
          </a:xfrm>
          <a:prstGeom prst="rect">
            <a:avLst/>
          </a:prstGeom>
          <a:solidFill>
            <a:srgbClr val="12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143000"/>
            <a:ext cx="73152" cy="1097280"/>
          </a:xfrm>
          <a:prstGeom prst="rect">
            <a:avLst/>
          </a:prstGeom>
          <a:solidFill>
            <a:srgbClr val="2C7B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23444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Deposit Type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64592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BD6EE"/>
                </a:solidFill>
              </a:rPr>
              <a:t>Non-refundable policies paradoxically associate with ~99% cancel rate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2441448"/>
            <a:ext cx="5577840" cy="1097280"/>
          </a:xfrm>
          <a:prstGeom prst="rect">
            <a:avLst/>
          </a:prstGeom>
          <a:solidFill>
            <a:srgbClr val="12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" y="2441448"/>
            <a:ext cx="73152" cy="1097280"/>
          </a:xfrm>
          <a:prstGeom prst="rect">
            <a:avLst/>
          </a:prstGeom>
          <a:solidFill>
            <a:srgbClr val="2C7B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2532888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Prior Cancellations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2944368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BD6EE"/>
                </a:solidFill>
              </a:rPr>
              <a:t>Past behaviour is the strongest behavioural predictor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2441448"/>
            <a:ext cx="5577840" cy="1097280"/>
          </a:xfrm>
          <a:prstGeom prst="rect">
            <a:avLst/>
          </a:prstGeom>
          <a:solidFill>
            <a:srgbClr val="12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2441448"/>
            <a:ext cx="73152" cy="1097280"/>
          </a:xfrm>
          <a:prstGeom prst="rect">
            <a:avLst/>
          </a:prstGeom>
          <a:solidFill>
            <a:srgbClr val="2C7B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2532888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Special Requests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944368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BD6EE"/>
                </a:solidFill>
              </a:rPr>
              <a:t>More requests = more engaged guest = lower cancel risk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3739896"/>
            <a:ext cx="5577840" cy="1097280"/>
          </a:xfrm>
          <a:prstGeom prst="rect">
            <a:avLst/>
          </a:prstGeom>
          <a:solidFill>
            <a:srgbClr val="12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20040" y="3739896"/>
            <a:ext cx="73152" cy="1097280"/>
          </a:xfrm>
          <a:prstGeom prst="rect">
            <a:avLst/>
          </a:prstGeom>
          <a:solidFill>
            <a:srgbClr val="2C7B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3831335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Hotel Type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4242816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BD6EE"/>
                </a:solidFill>
              </a:rPr>
              <a:t>City Hotel cancels at ~42% vs Resort at ~28%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3739896"/>
            <a:ext cx="5577840" cy="1097280"/>
          </a:xfrm>
          <a:prstGeom prst="rect">
            <a:avLst/>
          </a:prstGeom>
          <a:solidFill>
            <a:srgbClr val="12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17920" y="3739896"/>
            <a:ext cx="73152" cy="1097280"/>
          </a:xfrm>
          <a:prstGeom prst="rect">
            <a:avLst/>
          </a:prstGeom>
          <a:solidFill>
            <a:srgbClr val="2C7B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3831335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Booking Channel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4242816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BD6EE"/>
                </a:solidFill>
              </a:rPr>
              <a:t>Online TA dominates volume but has moderate cancel rate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5038344"/>
            <a:ext cx="5577840" cy="1097280"/>
          </a:xfrm>
          <a:prstGeom prst="rect">
            <a:avLst/>
          </a:prstGeom>
          <a:solidFill>
            <a:srgbClr val="12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0040" y="5038344"/>
            <a:ext cx="73152" cy="1097280"/>
          </a:xfrm>
          <a:prstGeom prst="rect">
            <a:avLst/>
          </a:prstGeom>
          <a:solidFill>
            <a:srgbClr val="2C7B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5129783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Repeat Guests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5541264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BD6EE"/>
                </a:solidFill>
              </a:rPr>
              <a:t>Loyal guests cancel at just 14% vs 38% for new guests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0" y="5038344"/>
            <a:ext cx="5577840" cy="1097280"/>
          </a:xfrm>
          <a:prstGeom prst="rect">
            <a:avLst/>
          </a:prstGeom>
          <a:solidFill>
            <a:srgbClr val="12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17920" y="5038344"/>
            <a:ext cx="73152" cy="1097280"/>
          </a:xfrm>
          <a:prstGeom prst="rect">
            <a:avLst/>
          </a:prstGeom>
          <a:solidFill>
            <a:srgbClr val="2C7B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0" y="5129783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Seasonality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5541264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BD6EE"/>
                </a:solidFill>
              </a:rPr>
              <a:t>Jan–Feb peak cancel rates despite low booking volume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34640"/>
            <a:ext cx="12188952" cy="1554480"/>
          </a:xfrm>
          <a:prstGeom prst="rect">
            <a:avLst/>
          </a:prstGeom>
          <a:solidFill>
            <a:srgbClr val="12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880360"/>
            <a:ext cx="64008" cy="1417320"/>
          </a:xfrm>
          <a:prstGeom prst="rect">
            <a:avLst/>
          </a:prstGeom>
          <a:solidFill>
            <a:srgbClr val="2C7B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9260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657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BBD6EE"/>
                </a:solidFill>
              </a:rPr>
              <a:t>Questions &amp; Discussion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88AA"/>
                </a:solidFill>
              </a:rPr>
              <a:t>Sai Nithin Reddy Maddi  ·  Sujith Julakanti  ·  STAT-654  ·  April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50292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7799"/>
                </a:solidFill>
              </a:rPr>
              <a:t>Dataset: Kaggle — Hotel Booking Demand (Jesse Mostipak)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217920"/>
            <a:ext cx="109728" cy="109728"/>
          </a:xfrm>
          <a:prstGeom prst="rect">
            <a:avLst/>
          </a:prstGeom>
          <a:solidFill>
            <a:srgbClr val="2C7B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60120" y="6217920"/>
            <a:ext cx="109728" cy="109728"/>
          </a:xfrm>
          <a:prstGeom prst="rect">
            <a:avLst/>
          </a:prstGeom>
          <a:solidFill>
            <a:srgbClr val="2C7B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417320" y="6217920"/>
            <a:ext cx="109728" cy="109728"/>
          </a:xfrm>
          <a:prstGeom prst="rect">
            <a:avLst/>
          </a:prstGeom>
          <a:solidFill>
            <a:srgbClr val="2C7B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874519" y="6217920"/>
            <a:ext cx="109728" cy="109728"/>
          </a:xfrm>
          <a:prstGeom prst="rect">
            <a:avLst/>
          </a:prstGeom>
          <a:solidFill>
            <a:srgbClr val="2C7B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331720" y="6217920"/>
            <a:ext cx="109728" cy="109728"/>
          </a:xfrm>
          <a:prstGeom prst="rect">
            <a:avLst/>
          </a:prstGeom>
          <a:solidFill>
            <a:srgbClr val="2C7B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88920" y="6217920"/>
            <a:ext cx="109728" cy="109728"/>
          </a:xfrm>
          <a:prstGeom prst="rect">
            <a:avLst/>
          </a:prstGeom>
          <a:solidFill>
            <a:srgbClr val="2C7B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46120" y="6217920"/>
            <a:ext cx="109728" cy="109728"/>
          </a:xfrm>
          <a:prstGeom prst="rect">
            <a:avLst/>
          </a:prstGeom>
          <a:solidFill>
            <a:srgbClr val="2C7B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703320" y="6217920"/>
            <a:ext cx="109728" cy="109728"/>
          </a:xfrm>
          <a:prstGeom prst="rect">
            <a:avLst/>
          </a:prstGeom>
          <a:solidFill>
            <a:srgbClr val="2C7B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