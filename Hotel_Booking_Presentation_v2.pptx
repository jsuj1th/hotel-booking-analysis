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955279" y="0"/>
            <a:ext cx="4233672" cy="68580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45936"/>
            <a:ext cx="12188952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54864" cy="6858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0080"/>
            <a:ext cx="7132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Hotel Booking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7132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E63946"/>
                </a:solidFill>
                <a:latin typeface="Calibri"/>
              </a:rPr>
              <a:t>Demand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1460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CCCC"/>
                </a:solidFill>
                <a:latin typeface="Calibri"/>
              </a:rPr>
              <a:t>EDA  ·  Classification  ·  Regularization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337560"/>
            <a:ext cx="7132320" cy="960120"/>
          </a:xfrm>
          <a:prstGeom prst="rect">
            <a:avLst/>
          </a:prstGeom>
          <a:solidFill>
            <a:srgbClr val="142A40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44728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Sai Nithin Reddy Maddi  ·  Sujith Julakanti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9476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Calibri"/>
              </a:rPr>
              <a:t>STAT-654  ·  Texas A&amp;M University  ·  April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00584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E9C46A"/>
                </a:solidFill>
                <a:latin typeface="Calibri"/>
              </a:rPr>
              <a:t>119K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  <a:latin typeface="Calibri"/>
              </a:rPr>
              <a:t>Reservations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56032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E63946"/>
                </a:solidFill>
                <a:latin typeface="Calibri"/>
              </a:rPr>
              <a:t>37%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38327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  <a:latin typeface="Calibri"/>
              </a:rPr>
              <a:t>Cancel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1148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2A9D8F"/>
                </a:solidFill>
                <a:latin typeface="Calibri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937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  <a:latin typeface="Calibri"/>
              </a:rPr>
              <a:t>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  <a:latin typeface="Calibri"/>
              </a:rPr>
              <a:t>Dataset: Kaggle — Hotel Booking Demand (Jesse Mostipak)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9456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1261872"/>
            <a:ext cx="2304288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1261872"/>
            <a:ext cx="2304288" cy="40233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307592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3946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307592"/>
            <a:ext cx="17556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Dataset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737360"/>
            <a:ext cx="21214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A"/>
                </a:solidFill>
                <a:latin typeface="Calibri"/>
              </a:rPr>
              <a:t>Size, features, hotel types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39" y="1261872"/>
            <a:ext cx="2304288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06039" y="1261872"/>
            <a:ext cx="2304288" cy="40233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79" y="1307592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3946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59" y="1307592"/>
            <a:ext cx="17556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Cancellation by Hotel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5768" y="1737360"/>
            <a:ext cx="21214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A"/>
                </a:solidFill>
                <a:latin typeface="Calibri"/>
              </a:rPr>
              <a:t>City vs Resort rates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56048" y="1261872"/>
            <a:ext cx="2304288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56048" y="1261872"/>
            <a:ext cx="2304288" cy="40233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47488" y="1307592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3946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58968" y="1307592"/>
            <a:ext cx="17556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Monthly Trends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65776" y="1737360"/>
            <a:ext cx="21214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A"/>
                </a:solidFill>
                <a:latin typeface="Calibri"/>
              </a:rPr>
              <a:t>Seasonal patterns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06055" y="1261872"/>
            <a:ext cx="2304288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06055" y="1261872"/>
            <a:ext cx="2304288" cy="40233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97496" y="1307592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3946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08975" y="1307592"/>
            <a:ext cx="17556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Lead 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15783" y="1737360"/>
            <a:ext cx="21214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A"/>
                </a:solidFill>
                <a:latin typeface="Calibri"/>
              </a:rPr>
              <a:t>Booking window vs cancel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56063" y="1261872"/>
            <a:ext cx="2304288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56063" y="1261872"/>
            <a:ext cx="2304288" cy="40233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47503" y="1307592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3946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58984" y="1307592"/>
            <a:ext cx="17556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Deposit Type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65791" y="1737360"/>
            <a:ext cx="21214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A"/>
                </a:solidFill>
                <a:latin typeface="Calibri"/>
              </a:rPr>
              <a:t>Payment policy effect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6032" y="2432304"/>
            <a:ext cx="2304288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56032" y="2432304"/>
            <a:ext cx="2304288" cy="40233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" y="2478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3946"/>
                </a:solidFill>
                <a:latin typeface="Calibr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" y="2478024"/>
            <a:ext cx="17556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ADR Analysis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2907792"/>
            <a:ext cx="21214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A"/>
                </a:solidFill>
                <a:latin typeface="Calibri"/>
              </a:rPr>
              <a:t>Pricing patterns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06039" y="2432304"/>
            <a:ext cx="2304288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606039" y="2432304"/>
            <a:ext cx="2304288" cy="40233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97479" y="2478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3946"/>
                </a:solidFill>
                <a:latin typeface="Calibri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08959" y="2478024"/>
            <a:ext cx="17556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Booking Channel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15768" y="2907792"/>
            <a:ext cx="21214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A"/>
                </a:solidFill>
                <a:latin typeface="Calibri"/>
              </a:rPr>
              <a:t>OTA, Direct, Corporate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56048" y="2432304"/>
            <a:ext cx="2304288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956048" y="2432304"/>
            <a:ext cx="2304288" cy="40233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47488" y="2478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3946"/>
                </a:solidFill>
                <a:latin typeface="Calibri"/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58968" y="2478024"/>
            <a:ext cx="17556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Guest Behaviour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65776" y="2907792"/>
            <a:ext cx="21214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A"/>
                </a:solidFill>
                <a:latin typeface="Calibri"/>
              </a:rPr>
              <a:t>Prior cancels, requests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06055" y="2432304"/>
            <a:ext cx="2304288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306055" y="2432304"/>
            <a:ext cx="2304288" cy="40233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97496" y="2478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3946"/>
                </a:solidFill>
                <a:latin typeface="Calibri"/>
              </a:rPr>
              <a:t>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08975" y="2478024"/>
            <a:ext cx="17556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Guest Profile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15783" y="2907792"/>
            <a:ext cx="21214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A"/>
                </a:solidFill>
                <a:latin typeface="Calibri"/>
              </a:rPr>
              <a:t>Repeat vs new guests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56063" y="2432304"/>
            <a:ext cx="2304288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656063" y="2432304"/>
            <a:ext cx="2304288" cy="40233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747503" y="2478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3946"/>
                </a:solidFill>
                <a:latin typeface="Calibri"/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58984" y="2478024"/>
            <a:ext cx="17556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Geographic Insights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65791" y="2907792"/>
            <a:ext cx="21214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A"/>
                </a:solidFill>
                <a:latin typeface="Calibri"/>
              </a:rPr>
              <a:t>Country-level patterns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56032" y="3602736"/>
            <a:ext cx="2304288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56032" y="3602736"/>
            <a:ext cx="2304288" cy="40233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47472" y="3648456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3946"/>
                </a:solidFill>
                <a:latin typeface="Calibri"/>
              </a:rPr>
              <a:t>11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8952" y="3648456"/>
            <a:ext cx="17556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Correlation Analysis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4078224"/>
            <a:ext cx="21214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A"/>
                </a:solidFill>
                <a:latin typeface="Calibri"/>
              </a:rPr>
              <a:t>Feature relationships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606039" y="3602736"/>
            <a:ext cx="2304288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606039" y="3602736"/>
            <a:ext cx="2304288" cy="40233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697479" y="3648456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3946"/>
                </a:solidFill>
                <a:latin typeface="Calibri"/>
              </a:rPr>
              <a:t>12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108959" y="3648456"/>
            <a:ext cx="17556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EDA Findings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715768" y="4078224"/>
            <a:ext cx="21214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A"/>
                </a:solidFill>
                <a:latin typeface="Calibri"/>
              </a:rPr>
              <a:t>8 headline takeaways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956048" y="3602736"/>
            <a:ext cx="2304288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956048" y="3602736"/>
            <a:ext cx="2304288" cy="40233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47488" y="3648456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3946"/>
                </a:solidFill>
                <a:latin typeface="Calibri"/>
              </a:rPr>
              <a:t>13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58968" y="3648456"/>
            <a:ext cx="17556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Models Overview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65776" y="4078224"/>
            <a:ext cx="21214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A"/>
                </a:solidFill>
                <a:latin typeface="Calibri"/>
              </a:rPr>
              <a:t>8 classifiers compared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06055" y="3602736"/>
            <a:ext cx="2304288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06055" y="3602736"/>
            <a:ext cx="2304288" cy="40233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97496" y="3648456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3946"/>
                </a:solidFill>
                <a:latin typeface="Calibri"/>
              </a:rPr>
              <a:t>14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808975" y="3648456"/>
            <a:ext cx="17556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Regularization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15783" y="4078224"/>
            <a:ext cx="21214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A"/>
                </a:solidFill>
                <a:latin typeface="Calibri"/>
              </a:rPr>
              <a:t>L1 vs L2 shrinkage paths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656063" y="3602736"/>
            <a:ext cx="2304288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656063" y="3602736"/>
            <a:ext cx="2304288" cy="40233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747503" y="3648456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3946"/>
                </a:solidFill>
                <a:latin typeface="Calibri"/>
              </a:rPr>
              <a:t>15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158984" y="3648456"/>
            <a:ext cx="17556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Performance Metrics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765791" y="4078224"/>
            <a:ext cx="21214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A"/>
                </a:solidFill>
                <a:latin typeface="Calibri"/>
              </a:rPr>
              <a:t>F1, AUC, Accuracy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56032" y="4773168"/>
            <a:ext cx="2304288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56032" y="4773168"/>
            <a:ext cx="2304288" cy="40233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47472" y="4818888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3946"/>
                </a:solidFill>
                <a:latin typeface="Calibri"/>
              </a:rPr>
              <a:t>16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58952" y="4818888"/>
            <a:ext cx="17556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ROC Curves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65760" y="5248656"/>
            <a:ext cx="21214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A"/>
                </a:solidFill>
                <a:latin typeface="Calibri"/>
              </a:rPr>
              <a:t>Discrimination ability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606039" y="4773168"/>
            <a:ext cx="2304288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2606039" y="4773168"/>
            <a:ext cx="2304288" cy="40233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697479" y="4818888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3946"/>
                </a:solidFill>
                <a:latin typeface="Calibri"/>
              </a:rPr>
              <a:t>17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108959" y="4818888"/>
            <a:ext cx="17556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Confusion Matrices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715768" y="5248656"/>
            <a:ext cx="21214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A"/>
                </a:solidFill>
                <a:latin typeface="Calibri"/>
              </a:rPr>
              <a:t>Error breakdown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956048" y="4773168"/>
            <a:ext cx="2304288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956048" y="4773168"/>
            <a:ext cx="2304288" cy="40233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047488" y="4818888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3946"/>
                </a:solidFill>
                <a:latin typeface="Calibri"/>
              </a:rPr>
              <a:t>18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458968" y="4818888"/>
            <a:ext cx="17556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Feature Importance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065776" y="5248656"/>
            <a:ext cx="21214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A"/>
                </a:solidFill>
                <a:latin typeface="Calibri"/>
              </a:rPr>
              <a:t>What drives prediction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306055" y="4773168"/>
            <a:ext cx="2304288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306055" y="4773168"/>
            <a:ext cx="2304288" cy="40233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397496" y="4818888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3946"/>
                </a:solidFill>
                <a:latin typeface="Calibri"/>
              </a:rPr>
              <a:t>19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808975" y="4818888"/>
            <a:ext cx="17556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Conclusions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415783" y="5248656"/>
            <a:ext cx="21214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A"/>
                </a:solidFill>
                <a:latin typeface="Calibri"/>
              </a:rPr>
              <a:t>Summary &amp; implications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828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 i="0">
                <a:solidFill>
                  <a:srgbClr val="E63946"/>
                </a:solidFill>
                <a:latin typeface="Calibri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40" y="1828800"/>
            <a:ext cx="64008" cy="292608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22860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Exploratory 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520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CCCCCC"/>
                </a:solidFill>
                <a:latin typeface="Calibri"/>
              </a:rPr>
              <a:t>Understanding 119K hotel reservations before modelling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11914632" cy="6400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64008"/>
            <a:ext cx="11914632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Dataset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CC"/>
                </a:solidFill>
                <a:latin typeface="Calibri"/>
              </a:rPr>
              <a:t>Hotel Booking Demand — Kaggle (Jesse Mostipak)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188720"/>
            <a:ext cx="2286000" cy="1234440"/>
          </a:xfrm>
          <a:prstGeom prst="rect">
            <a:avLst/>
          </a:prstGeom>
          <a:solidFill>
            <a:srgbClr val="0D1B2A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43584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E9C46A"/>
                </a:solidFill>
                <a:latin typeface="Calibri"/>
              </a:rPr>
              <a:t>119,390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3852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  <a:latin typeface="Calibri"/>
              </a:rPr>
              <a:t>Reservations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1188720"/>
            <a:ext cx="2286000" cy="1234440"/>
          </a:xfrm>
          <a:prstGeom prst="rect">
            <a:avLst/>
          </a:prstGeom>
          <a:solidFill>
            <a:srgbClr val="0D1B2A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1243584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E63946"/>
                </a:solidFill>
                <a:latin typeface="Calibri"/>
              </a:rPr>
              <a:t>37%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193852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  <a:latin typeface="Calibri"/>
              </a:rPr>
              <a:t>Cancel Rate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57800" y="1188720"/>
            <a:ext cx="2286000" cy="1234440"/>
          </a:xfrm>
          <a:prstGeom prst="rect">
            <a:avLst/>
          </a:prstGeom>
          <a:solidFill>
            <a:srgbClr val="0D1B2A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9240" y="1243584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2A9D8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193852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  <a:latin typeface="Calibri"/>
              </a:rPr>
              <a:t>Hotel Types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0" y="1188720"/>
            <a:ext cx="2286000" cy="1234440"/>
          </a:xfrm>
          <a:prstGeom prst="rect">
            <a:avLst/>
          </a:prstGeom>
          <a:solidFill>
            <a:srgbClr val="0D1B2A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1243584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E9C46A"/>
                </a:solidFill>
                <a:latin typeface="Calibri"/>
              </a:rPr>
              <a:t>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193852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  <a:latin typeface="Calibri"/>
              </a:rPr>
              <a:t>Raw Features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04120" y="1188720"/>
            <a:ext cx="2286000" cy="1234440"/>
          </a:xfrm>
          <a:prstGeom prst="rect">
            <a:avLst/>
          </a:prstGeom>
          <a:solidFill>
            <a:srgbClr val="0D1B2A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95560" y="1243584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E9C46A"/>
                </a:solidFill>
                <a:latin typeface="Calibri"/>
              </a:rPr>
              <a:t>3 yrs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95560" y="193852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  <a:latin typeface="Calibri"/>
              </a:rPr>
              <a:t>2015 – 2017</a:t>
            </a:r>
          </a:p>
        </p:txBody>
      </p:sp>
      <p:pic>
        <p:nvPicPr>
          <p:cNvPr id="23" name="Picture 22" descr="eda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651760"/>
            <a:ext cx="11247120" cy="290655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11480" y="629107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1A2A"/>
                </a:solidFill>
                <a:latin typeface="Calibri"/>
              </a:rPr>
              <a:t>City Hotel: 66% of bookings, 42% cancel rate  ·  Resort Hotel: 28% cancel rate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11914632" cy="6400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64008"/>
            <a:ext cx="11914632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Cancellation Rate by Hotel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CC"/>
                </a:solidFill>
                <a:latin typeface="Calibri"/>
              </a:rPr>
              <a:t>City Hotel cancels at ~42%; Resort Hotel at ~28%</a:t>
            </a:r>
          </a:p>
        </p:txBody>
      </p:sp>
      <p:pic>
        <p:nvPicPr>
          <p:cNvPr id="8" name="Picture 7" descr="eda_hotel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15568"/>
            <a:ext cx="8961120" cy="366017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646920" y="1097280"/>
            <a:ext cx="2423160" cy="539496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46920" y="1097280"/>
            <a:ext cx="242316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56648" y="1161288"/>
            <a:ext cx="2240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3946"/>
                </a:solidFill>
                <a:latin typeface="Calibri"/>
              </a:rPr>
              <a:t>Hotel 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164591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City Hotel: 42% cancel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212140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Resort Hotel: 28% cancel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2596896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City has 2× higher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307238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Class imbalance present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5478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Must stratify in
train/test split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11914632" cy="6400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64008"/>
            <a:ext cx="11914632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Monthly Booking &amp; Cancellation Trends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CC"/>
                </a:solidFill>
                <a:latin typeface="Calibri"/>
              </a:rPr>
              <a:t>Seasonal demand shifts and their effect on cancellation rates</a:t>
            </a:r>
          </a:p>
        </p:txBody>
      </p:sp>
      <p:pic>
        <p:nvPicPr>
          <p:cNvPr id="8" name="Picture 7" descr="eda_monthly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15568"/>
            <a:ext cx="8961120" cy="337206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646920" y="1097280"/>
            <a:ext cx="2423160" cy="539496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46920" y="1097280"/>
            <a:ext cx="242316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56648" y="1161288"/>
            <a:ext cx="2240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A9D8F"/>
                </a:solidFill>
                <a:latin typeface="Calibri"/>
              </a:rPr>
              <a:t>Seasonality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164591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Peak bookings: Jul–Aug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212140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Highest cancel: Jan–Feb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2596896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Low-season bookings
cancel proportionally more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307238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Volume &amp; rate move
inversely in shoulders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11914632" cy="6400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64008"/>
            <a:ext cx="11914632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Lead Time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CC"/>
                </a:solidFill>
                <a:latin typeface="Calibri"/>
              </a:rPr>
              <a:t>How far in advance bookings are made — and its link to cancellation</a:t>
            </a:r>
          </a:p>
        </p:txBody>
      </p:sp>
      <p:pic>
        <p:nvPicPr>
          <p:cNvPr id="8" name="Picture 7" descr="eda_lead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15568"/>
            <a:ext cx="8961120" cy="337031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646920" y="1097280"/>
            <a:ext cx="2423160" cy="539496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46920" y="1097280"/>
            <a:ext cx="242316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56648" y="1161288"/>
            <a:ext cx="2240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9C46A"/>
                </a:solidFill>
                <a:latin typeface="Calibri"/>
              </a:rPr>
              <a:t>Lead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164591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Cancelled: 2× longer
lead times on average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212140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City Hotel: wider spread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2596896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Non-cancelled: mostly
&lt; 100 days ahead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307238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#1 numeric predictor
across all models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11914632" cy="6400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64008"/>
            <a:ext cx="11914632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Deposit Type vs Cancellation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CC"/>
                </a:solidFill>
                <a:latin typeface="Calibri"/>
              </a:rPr>
              <a:t>Payment policy has the most counter-intuitive signal in the dataset</a:t>
            </a:r>
          </a:p>
        </p:txBody>
      </p:sp>
      <p:pic>
        <p:nvPicPr>
          <p:cNvPr id="8" name="Picture 7" descr="eda_deposit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15568"/>
            <a:ext cx="8961120" cy="3374967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646920" y="1097280"/>
            <a:ext cx="2423160" cy="539496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46920" y="1097280"/>
            <a:ext cx="242316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56648" y="1161288"/>
            <a:ext cx="2240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3946"/>
                </a:solidFill>
                <a:latin typeface="Calibri"/>
              </a:rPr>
              <a:t>Deposit 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164591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Non-Refund: ~99% cancel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212140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No Deposit: ~28% cancel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2596896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Refundable: ~22% cancel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307238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Paradox driven by
OTA policy behaviour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5478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High predictive signal
despite odd direction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11914632" cy="6400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64008"/>
            <a:ext cx="11914632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Average Daily Rate (ADR)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CC"/>
                </a:solidFill>
                <a:latin typeface="Calibri"/>
              </a:rPr>
              <a:t>Pricing patterns by hotel type, month, and cancellation status</a:t>
            </a:r>
          </a:p>
        </p:txBody>
      </p:sp>
      <p:pic>
        <p:nvPicPr>
          <p:cNvPr id="8" name="Picture 7" descr="eda_ad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15568"/>
            <a:ext cx="8961120" cy="337031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646920" y="1097280"/>
            <a:ext cx="2423160" cy="539496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46920" y="1097280"/>
            <a:ext cx="242316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56648" y="1161288"/>
            <a:ext cx="2240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A9D8F"/>
                </a:solidFill>
                <a:latin typeface="Calibri"/>
              </a:rPr>
              <a:t>Pricing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164591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Resort ADR peaks Jul–Aug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212140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City ADR relatively flat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2596896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Cancelled bookings:
slightly higher ADR avg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307238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ADR tracks seasonal
demand closely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11914632" cy="6400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64008"/>
            <a:ext cx="11914632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Length of Stay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CC"/>
                </a:solidFill>
                <a:latin typeface="Calibri"/>
              </a:rPr>
              <a:t>Booking duration patterns and cancellation risk</a:t>
            </a:r>
          </a:p>
        </p:txBody>
      </p:sp>
      <p:pic>
        <p:nvPicPr>
          <p:cNvPr id="8" name="Picture 7" descr="eda_stay_du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15568"/>
            <a:ext cx="8961120" cy="3374967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646920" y="1097280"/>
            <a:ext cx="2423160" cy="539496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46920" y="1097280"/>
            <a:ext cx="242316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56648" y="1161288"/>
            <a:ext cx="2240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9C46A"/>
                </a:solidFill>
                <a:latin typeface="Calibri"/>
              </a:rPr>
              <a:t>Stay Duration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164591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1–3 night stays dominate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212140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Very long stays (&gt;7 nights)
have elevated cancel rates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2596896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Sweet spot: 2–4 nights
→ lowest cancel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307238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1-night bookings also
cancel infrequently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11914632" cy="6400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64008"/>
            <a:ext cx="11914632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Booking Channel &amp; Market Segment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CC"/>
                </a:solidFill>
                <a:latin typeface="Calibri"/>
              </a:rPr>
              <a:t>Where guests book shapes their likelihood of cancelling</a:t>
            </a:r>
          </a:p>
        </p:txBody>
      </p:sp>
      <p:pic>
        <p:nvPicPr>
          <p:cNvPr id="8" name="Picture 7" descr="eda_market_cha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15568"/>
            <a:ext cx="8961120" cy="336856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646920" y="1097280"/>
            <a:ext cx="2423160" cy="539496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46920" y="1097280"/>
            <a:ext cx="242316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56648" y="1161288"/>
            <a:ext cx="2240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3946"/>
                </a:solidFill>
                <a:latin typeface="Calibri"/>
              </a:rPr>
              <a:t>Channel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164591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Online TA: highest vol,
36% cancel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212140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Direct: lower cancel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2596896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Corporate / Groups:
lowest cancel rates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307238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GDS: elevated cancel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5478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Channel reflects
booking commitment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11914632" cy="6400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64008"/>
            <a:ext cx="11914632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Guest Behaviour — Prior Cancels &amp; Special Requests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CC"/>
                </a:solidFill>
                <a:latin typeface="Calibri"/>
              </a:rPr>
              <a:t>Engagement signals are among the strongest behavioural predictors</a:t>
            </a:r>
          </a:p>
        </p:txBody>
      </p:sp>
      <p:pic>
        <p:nvPicPr>
          <p:cNvPr id="8" name="Picture 7" descr="eda_customer_behav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15568"/>
            <a:ext cx="8961120" cy="3374967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646920" y="1097280"/>
            <a:ext cx="2423160" cy="539496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46920" y="1097280"/>
            <a:ext cx="242316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56648" y="1161288"/>
            <a:ext cx="2240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A9D8F"/>
                </a:solidFill>
                <a:latin typeface="Calibri"/>
              </a:rPr>
              <a:t>Behaviour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164591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1+ prior cancel → 80%+
future cancel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212140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0 requests: ~40% cancel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2596896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3+ requests: ~10% cancel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307238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Engaged guests
rarely cancel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5478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Behavioural history
is highly predictive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11914632" cy="6400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64008"/>
            <a:ext cx="11914632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Guest Profile — Repeat vs New Guests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CC"/>
                </a:solidFill>
                <a:latin typeface="Calibri"/>
              </a:rPr>
              <a:t>Loyalty dramatically reduces cancellation risk</a:t>
            </a:r>
          </a:p>
        </p:txBody>
      </p:sp>
      <p:pic>
        <p:nvPicPr>
          <p:cNvPr id="8" name="Picture 7" descr="eda_guest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15568"/>
            <a:ext cx="8961120" cy="3374967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646920" y="1097280"/>
            <a:ext cx="2423160" cy="539496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46920" y="1097280"/>
            <a:ext cx="242316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56648" y="1161288"/>
            <a:ext cx="2240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9C46A"/>
                </a:solidFill>
                <a:latin typeface="Calibri"/>
              </a:rPr>
              <a:t>Guest 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164591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Repeat guests: 14%
cancellation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212140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New guests: 38% cancel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2596896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Transient type cancels
most (~39%)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307238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Group type: very low
cancellation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5478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Loyalty = commitment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11914632" cy="6400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64008"/>
            <a:ext cx="11914632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Geographic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CC"/>
                </a:solidFill>
                <a:latin typeface="Calibri"/>
              </a:rPr>
              <a:t>Country of origin and cancellation patterns by hotel type</a:t>
            </a:r>
          </a:p>
        </p:txBody>
      </p:sp>
      <p:pic>
        <p:nvPicPr>
          <p:cNvPr id="8" name="Picture 7" descr="eda_country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15568"/>
            <a:ext cx="8778240" cy="611329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646920" y="1097280"/>
            <a:ext cx="2423160" cy="539496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46920" y="1097280"/>
            <a:ext cx="242316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56648" y="1161288"/>
            <a:ext cx="2240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3946"/>
                </a:solidFill>
                <a:latin typeface="Calibri"/>
              </a:rPr>
              <a:t>Geography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164591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Portugal dominates
booking volume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212140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Wide variation by
country of origin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2596896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Some countries: near
0% cancel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307238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City Hotel higher
across all countries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5478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Country is a moderate
predictor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11914632" cy="6400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64008"/>
            <a:ext cx="11914632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Correlation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CC"/>
                </a:solidFill>
                <a:latin typeface="Calibri"/>
              </a:rPr>
              <a:t>Numeric feature relationships — what correlates with cancellation</a:t>
            </a:r>
          </a:p>
        </p:txBody>
      </p:sp>
      <p:pic>
        <p:nvPicPr>
          <p:cNvPr id="8" name="Picture 7" descr="eda_correlation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15568"/>
            <a:ext cx="8778240" cy="370768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646920" y="1097280"/>
            <a:ext cx="2423160" cy="539496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46920" y="1097280"/>
            <a:ext cx="242316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56648" y="1161288"/>
            <a:ext cx="2240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A9D8F"/>
                </a:solidFill>
                <a:latin typeface="Calibri"/>
              </a:rPr>
              <a:t>Correlations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164591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lead_time: strongest
positive corr.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212140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special_requests:
negative (protective)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2596896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prev_cancellations:
positive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307238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adr: slight positive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5478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adults / children:
near zero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88952" cy="36576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EDA — 8 Key Findings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70432"/>
            <a:ext cx="2761488" cy="2487168"/>
          </a:xfrm>
          <a:prstGeom prst="rect">
            <a:avLst/>
          </a:prstGeom>
          <a:solidFill>
            <a:srgbClr val="142A40"/>
          </a:solidFill>
          <a:ln w="254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70432"/>
            <a:ext cx="2761488" cy="493776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243584"/>
            <a:ext cx="2542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Lead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792224"/>
            <a:ext cx="248716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2× longer lead time
for cancellations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36976" y="1170432"/>
            <a:ext cx="2761488" cy="2487168"/>
          </a:xfrm>
          <a:prstGeom prst="rect">
            <a:avLst/>
          </a:prstGeom>
          <a:solidFill>
            <a:srgbClr val="142A40"/>
          </a:solidFill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36976" y="1170432"/>
            <a:ext cx="2761488" cy="493776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6704" y="1243584"/>
            <a:ext cx="2542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Deposit 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74136" y="1792224"/>
            <a:ext cx="248716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Non-refundable → 99%
cancellation paradox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1170432"/>
            <a:ext cx="2761488" cy="2487168"/>
          </a:xfrm>
          <a:prstGeom prst="rect">
            <a:avLst/>
          </a:prstGeom>
          <a:solidFill>
            <a:srgbClr val="142A40"/>
          </a:solidFill>
          <a:ln w="25400">
            <a:solidFill>
              <a:srgbClr val="E9C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170432"/>
            <a:ext cx="2761488" cy="493776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243584"/>
            <a:ext cx="2542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Prior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1792224"/>
            <a:ext cx="248716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Strongest behavioural
predictor overall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62288" y="1170432"/>
            <a:ext cx="2761488" cy="2487168"/>
          </a:xfrm>
          <a:prstGeom prst="rect">
            <a:avLst/>
          </a:prstGeom>
          <a:solidFill>
            <a:srgbClr val="142A40"/>
          </a:solidFill>
          <a:ln w="25400">
            <a:solidFill>
              <a:srgbClr val="8EC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62288" y="1170432"/>
            <a:ext cx="2761488" cy="493776"/>
          </a:xfrm>
          <a:prstGeom prst="rect">
            <a:avLst/>
          </a:prstGeom>
          <a:solidFill>
            <a:srgbClr val="8EC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72016" y="1243584"/>
            <a:ext cx="2542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Special Requests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9448" y="1792224"/>
            <a:ext cx="248716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3+ requests → only
10% cancel rate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867912"/>
            <a:ext cx="2761488" cy="2487168"/>
          </a:xfrm>
          <a:prstGeom prst="rect">
            <a:avLst/>
          </a:prstGeom>
          <a:solidFill>
            <a:srgbClr val="142A40"/>
          </a:solidFill>
          <a:ln w="254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3867912"/>
            <a:ext cx="2761488" cy="493776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3941064"/>
            <a:ext cx="2542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Hotel Type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79" y="4489704"/>
            <a:ext cx="248716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City 42% vs Resort
28% cancel rate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36976" y="3867912"/>
            <a:ext cx="2761488" cy="2487168"/>
          </a:xfrm>
          <a:prstGeom prst="rect">
            <a:avLst/>
          </a:prstGeom>
          <a:solidFill>
            <a:srgbClr val="142A40"/>
          </a:solidFill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36976" y="3867912"/>
            <a:ext cx="2761488" cy="493776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46704" y="3941064"/>
            <a:ext cx="2542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Booking Channel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74136" y="4489704"/>
            <a:ext cx="248716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OTA dominates; Direct
bookings commit more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99632" y="3867912"/>
            <a:ext cx="2761488" cy="2487168"/>
          </a:xfrm>
          <a:prstGeom prst="rect">
            <a:avLst/>
          </a:prstGeom>
          <a:solidFill>
            <a:srgbClr val="142A40"/>
          </a:solidFill>
          <a:ln w="25400">
            <a:solidFill>
              <a:srgbClr val="E9C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67912"/>
            <a:ext cx="2761488" cy="493776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41064"/>
            <a:ext cx="2542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Repeat Guests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36792" y="4489704"/>
            <a:ext cx="248716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14% vs 38% for
new guests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62288" y="3867912"/>
            <a:ext cx="2761488" cy="2487168"/>
          </a:xfrm>
          <a:prstGeom prst="rect">
            <a:avLst/>
          </a:prstGeom>
          <a:solidFill>
            <a:srgbClr val="142A40"/>
          </a:solidFill>
          <a:ln w="25400">
            <a:solidFill>
              <a:srgbClr val="8EC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62288" y="3867912"/>
            <a:ext cx="2761488" cy="493776"/>
          </a:xfrm>
          <a:prstGeom prst="rect">
            <a:avLst/>
          </a:prstGeom>
          <a:solidFill>
            <a:srgbClr val="8EC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72016" y="3941064"/>
            <a:ext cx="2542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Seasonality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99448" y="4489704"/>
            <a:ext cx="248716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Jan–Feb peak cancel
despite low volume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828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 i="0">
                <a:solidFill>
                  <a:srgbClr val="E63946"/>
                </a:solidFill>
                <a:latin typeface="Calibri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40" y="1828800"/>
            <a:ext cx="64008" cy="292608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22860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Predictive Modelling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520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CCCCCC"/>
                </a:solidFill>
                <a:latin typeface="Calibri"/>
              </a:rPr>
              <a:t>Logistic · Probit · L1/L2 · PCA · Trees · Ensembles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11914632" cy="6400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64008"/>
            <a:ext cx="11914632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Models Compared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CC"/>
                </a:solidFill>
                <a:latin typeface="Calibri"/>
              </a:rPr>
              <a:t>8 classifiers — statistical baselines to ensemble methods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115568"/>
            <a:ext cx="11247120" cy="43891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6128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16128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11612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Curriculum Link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200" y="116128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Family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591056"/>
            <a:ext cx="11247120" cy="5486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1591056"/>
            <a:ext cx="73152" cy="54864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1682496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A"/>
                </a:solidFill>
                <a:latin typeface="Calibri"/>
              </a:rPr>
              <a:t>Logistic Regression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1682496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A"/>
                </a:solidFill>
                <a:latin typeface="Calibri"/>
              </a:rPr>
              <a:t>sigmoid link, MLE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1682496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A9D8F"/>
                </a:solidFill>
                <a:latin typeface="Calibri"/>
              </a:rPr>
              <a:t>Ch. 3 — Baseline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167128"/>
            <a:ext cx="112471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2167128"/>
            <a:ext cx="73152" cy="54864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258568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A"/>
                </a:solidFill>
                <a:latin typeface="Calibri"/>
              </a:rPr>
              <a:t>Probit Regression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2258568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A"/>
                </a:solidFill>
                <a:latin typeface="Calibri"/>
              </a:rPr>
              <a:t>normal CDF link, MLE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2258568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A9D8F"/>
                </a:solidFill>
                <a:latin typeface="Calibri"/>
              </a:rPr>
              <a:t>Ch. 3 — GLM alternative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2743200"/>
            <a:ext cx="11247120" cy="5486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2743200"/>
            <a:ext cx="73152" cy="54864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834640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A"/>
                </a:solidFill>
                <a:latin typeface="Calibri"/>
              </a:rPr>
              <a:t>L1 Logistic (Lasso)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2834640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A"/>
                </a:solidFill>
                <a:latin typeface="Calibri"/>
              </a:rPr>
              <a:t>ℓ₁ penalty → sparse coefs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60" y="2834640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63946"/>
                </a:solidFill>
                <a:latin typeface="Calibri"/>
              </a:rPr>
              <a:t>Ch. 5 — Regularization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3319272"/>
            <a:ext cx="112471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3319272"/>
            <a:ext cx="73152" cy="54864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410712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A"/>
                </a:solidFill>
                <a:latin typeface="Calibri"/>
              </a:rPr>
              <a:t>L2 Logistic (Ridge)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3410712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A"/>
                </a:solidFill>
                <a:latin typeface="Calibri"/>
              </a:rPr>
              <a:t>ℓ₂ penalty → shrinkage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9560" y="3410712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63946"/>
                </a:solidFill>
                <a:latin typeface="Calibri"/>
              </a:rPr>
              <a:t>Ch. 5 — Regularization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3895344"/>
            <a:ext cx="11247120" cy="5486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1480" y="3895344"/>
            <a:ext cx="73152" cy="54864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3986783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A"/>
                </a:solidFill>
                <a:latin typeface="Calibri"/>
              </a:rPr>
              <a:t>PCA + Logistic Regression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3986783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A"/>
                </a:solidFill>
                <a:latin typeface="Calibri"/>
              </a:rPr>
              <a:t>dim. reduction → LR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09560" y="3986783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63946"/>
                </a:solidFill>
                <a:latin typeface="Calibri"/>
              </a:rPr>
              <a:t>Ch. 5 — Dimension Red.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4471416"/>
            <a:ext cx="112471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1480" y="4471416"/>
            <a:ext cx="73152" cy="54864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4562855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A"/>
                </a:solidFill>
                <a:latin typeface="Calibri"/>
              </a:rPr>
              <a:t>Decision Tree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60520" y="4562855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A"/>
                </a:solidFill>
                <a:latin typeface="Calibri"/>
              </a:rPr>
              <a:t>gini / entropy splits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09560" y="4562855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9C46A"/>
                </a:solidFill>
                <a:latin typeface="Calibri"/>
              </a:rPr>
              <a:t>Ch. 3 — Non-linear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5047488"/>
            <a:ext cx="11247120" cy="5486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11480" y="5047488"/>
            <a:ext cx="73152" cy="54864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" y="5138928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A"/>
                </a:solidFill>
                <a:latin typeface="Calibri"/>
              </a:rPr>
              <a:t>Random Forest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60520" y="5138928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A"/>
                </a:solidFill>
                <a:latin typeface="Calibri"/>
              </a:rPr>
              <a:t>bagged trees, sqrt feat.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09560" y="5138928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9C46A"/>
                </a:solidFill>
                <a:latin typeface="Calibri"/>
              </a:rPr>
              <a:t>Ensemble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5623560"/>
            <a:ext cx="112471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11480" y="5623560"/>
            <a:ext cx="73152" cy="54864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4360" y="5715000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A"/>
                </a:solidFill>
                <a:latin typeface="Calibri"/>
              </a:rPr>
              <a:t>Gradient Boosting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60520" y="5715000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A"/>
                </a:solidFill>
                <a:latin typeface="Calibri"/>
              </a:rPr>
              <a:t>sequential boosting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09560" y="5715000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9C46A"/>
                </a:solidFill>
                <a:latin typeface="Calibri"/>
              </a:rPr>
              <a:t>Ensemble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6336792"/>
            <a:ext cx="182880" cy="18288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4944" y="63093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A"/>
                </a:solidFill>
                <a:latin typeface="Calibri"/>
              </a:rPr>
              <a:t>Statistical (Ch.3)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926080" y="6336792"/>
            <a:ext cx="182880" cy="18288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63824" y="63093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A"/>
                </a:solidFill>
                <a:latin typeface="Calibri"/>
              </a:rPr>
              <a:t>Regularization (Ch.5)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669280" y="6336792"/>
            <a:ext cx="182880" cy="18288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07024" y="63093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A"/>
                </a:solidFill>
                <a:latin typeface="Calibri"/>
              </a:rPr>
              <a:t>Ensemble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11914632" cy="6400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64008"/>
            <a:ext cx="11914632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Regularization — L1 vs L2 Shrinkage Paths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CC"/>
                </a:solidFill>
                <a:latin typeface="Calibri"/>
              </a:rPr>
              <a:t>How each coefficient changes as λ increases  (STAT-654 Ch. 5)</a:t>
            </a:r>
          </a:p>
        </p:txBody>
      </p:sp>
      <p:pic>
        <p:nvPicPr>
          <p:cNvPr id="8" name="Picture 7" descr="eda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15568"/>
            <a:ext cx="8961120" cy="733295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646920" y="1097280"/>
            <a:ext cx="2423160" cy="539496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46920" y="1097280"/>
            <a:ext cx="242316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56648" y="1161288"/>
            <a:ext cx="2240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3946"/>
                </a:solidFill>
                <a:latin typeface="Calibri"/>
              </a:rPr>
              <a:t>Regularization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164591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L1 (Lasso): zeroes
out irrelevant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212140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L2 (Ridge): shrinks
all — none hit zero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2596896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Dashed line = λ
chosen by CV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307238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Confirms Ch. 5 theory
on real hotel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5478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Lasso removes several
redundant features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11914632" cy="6400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64008"/>
            <a:ext cx="11914632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Model Performance — Test Set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CC"/>
                </a:solidFill>
                <a:latin typeface="Calibri"/>
              </a:rPr>
              <a:t>Accuracy · Precision · Recall · F1-Score · ROC-AUC across all 8 models</a:t>
            </a:r>
          </a:p>
        </p:txBody>
      </p:sp>
      <p:pic>
        <p:nvPicPr>
          <p:cNvPr id="8" name="Picture 7" descr="metric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15568"/>
            <a:ext cx="8961120" cy="3374967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646920" y="1097280"/>
            <a:ext cx="2423160" cy="539496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46920" y="1097280"/>
            <a:ext cx="242316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56648" y="1161288"/>
            <a:ext cx="2240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9C46A"/>
                </a:solidFill>
                <a:latin typeface="Calibri"/>
              </a:rPr>
              <a:t>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164591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Gradient Boosting:
best F1 &amp; AUC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212140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Random Forest:
close second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2596896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L1 Lasso: sparse
model, solid F1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307238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Ridge ≈ standard LR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5478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Probit ≈ Logistic
(theory confirmed)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4023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PCA-LR: slight drop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11914632" cy="6400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64008"/>
            <a:ext cx="11914632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ROC Curves — All 8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CC"/>
                </a:solidFill>
                <a:latin typeface="Calibri"/>
              </a:rPr>
              <a:t>True Positive Rate vs False Positive Rate at varying thresholds</a:t>
            </a:r>
          </a:p>
        </p:txBody>
      </p:sp>
      <p:pic>
        <p:nvPicPr>
          <p:cNvPr id="8" name="Picture 7" descr="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115568"/>
            <a:ext cx="6858000" cy="585439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646920" y="1097280"/>
            <a:ext cx="2423160" cy="539496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46920" y="1097280"/>
            <a:ext cx="242316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56648" y="1161288"/>
            <a:ext cx="2240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A9D8F"/>
                </a:solidFill>
                <a:latin typeface="Calibri"/>
              </a:rPr>
              <a:t>ROC / AUC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164591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Ensembles AUC &gt; 0.92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212140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Logistic variants
~0.80 – 0.85 AUC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2596896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Ideal curve: top-left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307238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Random chance: 0.50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5478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AUC = probability model
ranks + case higher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11914632" cy="6400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64008"/>
            <a:ext cx="11914632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Confusion Matrices — All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CC"/>
                </a:solidFill>
                <a:latin typeface="Calibri"/>
              </a:rPr>
              <a:t>True/False Positive &amp; Negative breakdown on the test set</a:t>
            </a:r>
          </a:p>
        </p:txBody>
      </p:sp>
      <p:pic>
        <p:nvPicPr>
          <p:cNvPr id="8" name="Picture 7" descr="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15568"/>
            <a:ext cx="8778240" cy="738047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646920" y="1097280"/>
            <a:ext cx="2423160" cy="539496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46920" y="1097280"/>
            <a:ext cx="242316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56648" y="1161288"/>
            <a:ext cx="2240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3946"/>
                </a:solidFill>
                <a:latin typeface="Calibri"/>
              </a:rPr>
              <a:t>Error Types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164591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Ensembles minimize
false negatives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212140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Logistic models miss
more cancellations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2596896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High recall important:
cost of missed cancel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307238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Precision–recall
trade-off visible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11914632" cy="6400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64008"/>
            <a:ext cx="11914632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Feature Importance — Ensemble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CC"/>
                </a:solidFill>
                <a:latin typeface="Calibri"/>
              </a:rPr>
              <a:t>Top predictors identified by Random Forest and Gradient Boosting</a:t>
            </a:r>
          </a:p>
        </p:txBody>
      </p:sp>
      <p:pic>
        <p:nvPicPr>
          <p:cNvPr id="8" name="Picture 7" descr="fi_ensembl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15568"/>
            <a:ext cx="8961120" cy="381657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646920" y="1097280"/>
            <a:ext cx="2423160" cy="539496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46920" y="1097280"/>
            <a:ext cx="242316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56648" y="1161288"/>
            <a:ext cx="2240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9C46A"/>
                </a:solidFill>
                <a:latin typeface="Calibri"/>
              </a:rPr>
              <a:t>Top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164591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lead_time: #1 across
both ensembles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212140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deposit_type: high
predictive power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2596896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adr: average daily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307238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special_requests:
protective signal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5478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prev_cancellations:
behavioural memory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155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Conclusions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61872"/>
            <a:ext cx="3749039" cy="2423160"/>
          </a:xfrm>
          <a:prstGeom prst="rect">
            <a:avLst/>
          </a:prstGeom>
          <a:solidFill>
            <a:srgbClr val="FFFFFF"/>
          </a:solidFill>
          <a:ln w="254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61872"/>
            <a:ext cx="3749039" cy="493776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335024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Gradient Boosting Wins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856231"/>
            <a:ext cx="3474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A"/>
                </a:solidFill>
                <a:latin typeface="Calibri"/>
              </a:rPr>
              <a:t>Best F1 and AUC across all 8 models. Non-linear interactions matter.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24528" y="1261872"/>
            <a:ext cx="3749039" cy="2423160"/>
          </a:xfrm>
          <a:prstGeom prst="rect">
            <a:avLst/>
          </a:prstGeom>
          <a:solidFill>
            <a:srgbClr val="FFFFFF"/>
          </a:solidFill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1261872"/>
            <a:ext cx="3749039" cy="493776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4256" y="1335024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Lasso Selects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1856231"/>
            <a:ext cx="3474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A"/>
                </a:solidFill>
                <a:latin typeface="Calibri"/>
              </a:rPr>
              <a:t>L1 penalty zeros out redundant columns — sparse model, competitive accuracy.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74736" y="1261872"/>
            <a:ext cx="3749039" cy="2423160"/>
          </a:xfrm>
          <a:prstGeom prst="rect">
            <a:avLst/>
          </a:prstGeom>
          <a:solidFill>
            <a:srgbClr val="FFFFFF"/>
          </a:solidFill>
          <a:ln w="25400">
            <a:solidFill>
              <a:srgbClr val="E9C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74736" y="1261872"/>
            <a:ext cx="3749039" cy="493776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4" y="1335024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alibri"/>
              </a:rPr>
              <a:t>Probit ≈ Logistic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1856231"/>
            <a:ext cx="3474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A"/>
                </a:solidFill>
                <a:latin typeface="Calibri"/>
              </a:rPr>
              <a:t>Both GLMs give near-identical results, confirming theoretical similarity (Ch. 3).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867912"/>
            <a:ext cx="3749039" cy="2423160"/>
          </a:xfrm>
          <a:prstGeom prst="rect">
            <a:avLst/>
          </a:prstGeom>
          <a:solidFill>
            <a:srgbClr val="FFFFFF"/>
          </a:solidFill>
          <a:ln w="25400">
            <a:solidFill>
              <a:srgbClr val="8EC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867912"/>
            <a:ext cx="3749039" cy="493776"/>
          </a:xfrm>
          <a:prstGeom prst="rect">
            <a:avLst/>
          </a:prstGeom>
          <a:solidFill>
            <a:srgbClr val="8EC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3941064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PCA Costs Little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4462272"/>
            <a:ext cx="3474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A"/>
                </a:solidFill>
                <a:latin typeface="Calibri"/>
              </a:rPr>
              <a:t>15–20 components explain 90%+ variance with only slight F1 drop.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24528" y="3867912"/>
            <a:ext cx="3749039" cy="2423160"/>
          </a:xfrm>
          <a:prstGeom prst="rect">
            <a:avLst/>
          </a:prstGeom>
          <a:solidFill>
            <a:srgbClr val="FFFFFF"/>
          </a:solidFill>
          <a:ln w="254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24528" y="3867912"/>
            <a:ext cx="3749039" cy="493776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34256" y="3941064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Lead Time is #1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1688" y="4462272"/>
            <a:ext cx="3474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A"/>
                </a:solidFill>
                <a:latin typeface="Calibri"/>
              </a:rPr>
              <a:t>Strongest predictor across all models — long booking window = higher risk.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74736" y="3867912"/>
            <a:ext cx="3749039" cy="2423160"/>
          </a:xfrm>
          <a:prstGeom prst="rect">
            <a:avLst/>
          </a:prstGeom>
          <a:solidFill>
            <a:srgbClr val="FFFFFF"/>
          </a:solidFill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74736" y="3867912"/>
            <a:ext cx="3749039" cy="493776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84464" y="3941064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Business Implication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1896" y="4462272"/>
            <a:ext cx="3474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A"/>
                </a:solidFill>
                <a:latin typeface="Calibri"/>
              </a:rPr>
              <a:t>Target interventions at long-lead, no-deposit, OTA bookings. Repeat guests and special requests are protective.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0" y="0"/>
            <a:ext cx="54864" cy="6858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4592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Thank
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41732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39572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  <a:latin typeface="Calibri"/>
              </a:rPr>
              <a:t>Sai Nithin Reddy Maddi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798064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  <a:latin typeface="Calibri"/>
              </a:rPr>
              <a:t>Sujith Julakanti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3383280"/>
            <a:ext cx="7132320" cy="36576"/>
          </a:xfrm>
          <a:prstGeom prst="rect">
            <a:avLst/>
          </a:prstGeom>
          <a:solidFill>
            <a:srgbClr val="14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356616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  <a:latin typeface="Calibri"/>
              </a:rPr>
              <a:t>STAT-654  ·  Texas A&amp;M University  ·  April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986784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78899"/>
                </a:solidFill>
                <a:latin typeface="Calibri"/>
              </a:rPr>
              <a:t>Dataset: Kaggle — Hotel Booking Demand (Jesse Mostipak)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507492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9C46A"/>
                </a:solidFill>
                <a:latin typeface="Calibri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5760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  <a:latin typeface="Calibri"/>
              </a:rPr>
              <a:t>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507492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9C46A"/>
                </a:solidFill>
                <a:latin typeface="Calibri"/>
              </a:rPr>
              <a:t>119K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5760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  <a:latin typeface="Calibri"/>
              </a:rPr>
              <a:t>Bookings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507492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63946"/>
                </a:solidFill>
                <a:latin typeface="Calibri"/>
              </a:rPr>
              <a:t>37%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5760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  <a:latin typeface="Calibri"/>
              </a:rPr>
              <a:t>Cancel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507492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63946"/>
                </a:solidFill>
                <a:latin typeface="Calibri"/>
              </a:rPr>
              <a:t>0.93+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5760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  <a:latin typeface="Calibri"/>
              </a:rPr>
              <a:t>Best AUC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