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55279" y="0"/>
            <a:ext cx="4233672" cy="685800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45936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0"/>
            <a:ext cx="54864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"/>
            <a:ext cx="7132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Hotel Booking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132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E63946"/>
                </a:solidFill>
                <a:latin typeface="Calibri"/>
              </a:rPr>
              <a:t>Demand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  <a:latin typeface="Calibri"/>
              </a:rPr>
              <a:t>EDA  ·  Classification  ·  Regularization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337560"/>
            <a:ext cx="7132320" cy="960120"/>
          </a:xfrm>
          <a:prstGeom prst="rect">
            <a:avLst/>
          </a:prstGeom>
          <a:solidFill>
            <a:srgbClr val="142A40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4728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Sai Nithin Reddy Maddi  ·  Sujith Julakanti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9476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  <a:latin typeface="Calibri"/>
              </a:rPr>
              <a:t>STAT-654  ·  Texas A&amp;M University  ·  April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0058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E9C46A"/>
                </a:solidFill>
                <a:latin typeface="Calibri"/>
              </a:rPr>
              <a:t>119K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28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Calibri"/>
              </a:rPr>
              <a:t>Reservations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56032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E63946"/>
                </a:solidFill>
                <a:latin typeface="Calibri"/>
              </a:rPr>
              <a:t>37%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3832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Calibri"/>
              </a:rPr>
              <a:t>Cancel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114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2A9D8F"/>
                </a:solidFill>
                <a:latin typeface="Calibr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937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Calibri"/>
              </a:rPr>
              <a:t>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Dataset: Kaggle — Hotel Booking Demand (Jesse Mostipak)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19456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1261872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261872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307592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307592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Dataset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Size, features, hotel types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39" y="1261872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39" y="1261872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79" y="1307592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59" y="1307592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Cancellation by Hotel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1737360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City vs Resort rates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261872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048" y="1261872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7488" y="1307592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1307592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Monthly Trends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1737360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Seasonal patterns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6055" y="1261872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06055" y="1261872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7496" y="1307592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8975" y="1307592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Lead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1737360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Booking window vs cancel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56063" y="1261872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56063" y="1261872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47503" y="1307592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8984" y="1307592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Deposit 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1" y="1737360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Payment policy effect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" y="2432304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" y="2432304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2478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2478024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ADR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2907792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Pricing patterns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06039" y="2432304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06039" y="2432304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97479" y="2478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59" y="2478024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Booking Channel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15768" y="2907792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OTA, Direct, Corporate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56048" y="2432304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56048" y="2432304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47488" y="2478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58968" y="2478024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Guest Behaviour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65776" y="2907792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Prior cancels, requests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06055" y="2432304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06055" y="2432304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97496" y="2478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08975" y="2478024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Guest Profile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15783" y="2907792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Repeat vs new guests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56063" y="2432304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656063" y="2432304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47503" y="247802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58984" y="2478024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Geographic Insights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65791" y="2907792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Country-level patterns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6032" y="3602736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56032" y="3602736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7472" y="3648456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8952" y="3648456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Correlation Analysis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4078224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Feature relationships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06039" y="3602736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06039" y="3602736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697479" y="3648456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08959" y="3648456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EDA Findings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15768" y="4078224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8 headline takeaways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56048" y="3602736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56048" y="3602736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47488" y="3648456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58968" y="3648456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Models Overview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65776" y="4078224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8 classifiers compared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06055" y="3602736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06055" y="3602736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97496" y="3648456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08975" y="3648456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Regularization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15783" y="4078224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L1 vs L2 shrinkage paths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656063" y="3602736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656063" y="3602736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47503" y="3648456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58984" y="3648456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Performance Metrics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765791" y="4078224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F1, AUC, Accuracy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56032" y="4773168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6032" y="4773168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7472" y="481888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16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8952" y="4818888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ROC Curves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" y="5248656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Discrimination ability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606039" y="4773168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606039" y="4773168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697479" y="481888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08959" y="4818888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Confusion Matrices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15768" y="5248656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Error breakdown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56048" y="4773168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6048" y="4773168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47488" y="481888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8968" y="4818888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Feature Importance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65776" y="5248656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What drives prediction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06055" y="4773168"/>
            <a:ext cx="230428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06055" y="4773168"/>
            <a:ext cx="2304288" cy="40233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97496" y="481888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19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08975" y="4818888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415783" y="5248656"/>
            <a:ext cx="21214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Summary &amp; implications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828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E63946"/>
                </a:solidFill>
                <a:latin typeface="Calibri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640" y="1828800"/>
            <a:ext cx="64008" cy="29260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22860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Exploratory Data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  <a:latin typeface="Calibri"/>
              </a:rPr>
              <a:t>Understanding 119K hotel reservations before modelling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Hotel Booking Demand — Kaggle (Jesse Mostipak)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2286000" cy="1234440"/>
          </a:xfrm>
          <a:prstGeom prst="rect">
            <a:avLst/>
          </a:prstGeom>
          <a:solidFill>
            <a:srgbClr val="0D1B2A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E9C46A"/>
                </a:solidFill>
                <a:latin typeface="Calibri"/>
              </a:rPr>
              <a:t>119,390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385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Reservations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188720"/>
            <a:ext cx="2286000" cy="1234440"/>
          </a:xfrm>
          <a:prstGeom prst="rect">
            <a:avLst/>
          </a:prstGeom>
          <a:solidFill>
            <a:srgbClr val="0D1B2A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243584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E63946"/>
                </a:solidFill>
                <a:latin typeface="Calibri"/>
              </a:rPr>
              <a:t>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9385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Cancel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188720"/>
            <a:ext cx="2286000" cy="1234440"/>
          </a:xfrm>
          <a:prstGeom prst="rect">
            <a:avLst/>
          </a:prstGeom>
          <a:solidFill>
            <a:srgbClr val="0D1B2A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243584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A9D8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19385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Hotel Types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1188720"/>
            <a:ext cx="2286000" cy="1234440"/>
          </a:xfrm>
          <a:prstGeom prst="rect">
            <a:avLst/>
          </a:prstGeom>
          <a:solidFill>
            <a:srgbClr val="0D1B2A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243584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E9C46A"/>
                </a:solidFill>
                <a:latin typeface="Calibri"/>
              </a:rP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19385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Raw Features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4120" y="1188720"/>
            <a:ext cx="2286000" cy="1234440"/>
          </a:xfrm>
          <a:prstGeom prst="rect">
            <a:avLst/>
          </a:prstGeom>
          <a:solidFill>
            <a:srgbClr val="0D1B2A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1243584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E9C46A"/>
                </a:solidFill>
                <a:latin typeface="Calibri"/>
              </a:rPr>
              <a:t>3 yrs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5560" y="19385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2015 – 2017</a:t>
            </a:r>
          </a:p>
        </p:txBody>
      </p:sp>
      <p:pic>
        <p:nvPicPr>
          <p:cNvPr id="23" name="Picture 22" descr="eda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51760"/>
            <a:ext cx="11247120" cy="290655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62910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A"/>
                </a:solidFill>
                <a:latin typeface="Calibri"/>
              </a:rPr>
              <a:t>City Hotel: 66% of bookings, 42% cancel rate  ·  Resort Hotel: 28% cancel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Cancellation Rate by Hotel 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City Hotel cancels at ~42%; Resort Hotel at ~28%</a:t>
            </a:r>
          </a:p>
        </p:txBody>
      </p:sp>
      <p:pic>
        <p:nvPicPr>
          <p:cNvPr id="8" name="Picture 7" descr="eda_hotel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660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3946"/>
                </a:solidFill>
                <a:latin typeface="Calibri"/>
              </a:rPr>
              <a:t>Hotel 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City Hotel: 42% cancel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Resort Hotel: 28% cancel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City has 2× higher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Class imbalance present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Must stratify in
train/test split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Monthly Booking &amp; Cancellation 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Seasonal demand shifts and their effect on cancellation rates</a:t>
            </a:r>
          </a:p>
        </p:txBody>
      </p:sp>
      <p:pic>
        <p:nvPicPr>
          <p:cNvPr id="8" name="Picture 7" descr="eda_monthly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3720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Seasonality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Peak bookings: Jul–Aug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Highest cancel: Jan–Feb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Low-season bookings
cancel proportionally more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Volume &amp; rate move
inversely in shoulders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Lead Time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How far in advance bookings are made — and its link to cancellation</a:t>
            </a:r>
          </a:p>
        </p:txBody>
      </p:sp>
      <p:pic>
        <p:nvPicPr>
          <p:cNvPr id="8" name="Picture 7" descr="eda_le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37031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Lead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Cancelled: 2× longer
lead times on average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City Hotel: wider spread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Non-cancelled: mostly
&lt; 100 days ahead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#1 numeric predictor
across all models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Deposit Type vs Cancellation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Payment policy has the most counter-intuitive signal in the dataset</a:t>
            </a:r>
          </a:p>
        </p:txBody>
      </p:sp>
      <p:pic>
        <p:nvPicPr>
          <p:cNvPr id="8" name="Picture 7" descr="eda_deposit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37496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3946"/>
                </a:solidFill>
                <a:latin typeface="Calibri"/>
              </a:rPr>
              <a:t>Deposit 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Non-Refund: ~99% cancel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No Deposit: ~28% cancel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Refundable: ~22% cancel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Paradox driven by
OTA policy behaviour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High predictive signal
despite odd direction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Average Daily Rate (ADR)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Pricing patterns by hotel type, month, and cancellation status</a:t>
            </a:r>
          </a:p>
        </p:txBody>
      </p:sp>
      <p:pic>
        <p:nvPicPr>
          <p:cNvPr id="8" name="Picture 7" descr="eda_ad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37031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Pricing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Resort ADR peaks Jul–Aug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City ADR relatively flat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Cancelled bookings:
slightly higher ADR avg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ADR tracks seasonal
demand closely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Length of Stay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Booking duration patterns and cancellation risk</a:t>
            </a:r>
          </a:p>
        </p:txBody>
      </p:sp>
      <p:pic>
        <p:nvPicPr>
          <p:cNvPr id="8" name="Picture 7" descr="eda_stay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37496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Stay Duration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1–3 night stays dominate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Very long stays (&gt;7 nights)
have elevated cancel 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Sweet spot: 2–4 nights
→ lowest cancel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1-night bookings also
cancel infrequently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Booking Channel &amp; Market 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Where guests book shapes their likelihood of cancelling</a:t>
            </a:r>
          </a:p>
        </p:txBody>
      </p:sp>
      <p:pic>
        <p:nvPicPr>
          <p:cNvPr id="8" name="Picture 7" descr="eda_market_cha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36856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3946"/>
                </a:solidFill>
                <a:latin typeface="Calibri"/>
              </a:rPr>
              <a:t>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Online TA: highest vol,
36% cancel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Direct: lower cancel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Corporate / Groups:
lowest cancel rates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GDS: elevated cancel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Channel reflects
booking commitment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Guest Behaviour — Prior Cancels &amp; Special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Engagement signals are among the strongest behavioural predictors</a:t>
            </a:r>
          </a:p>
        </p:txBody>
      </p:sp>
      <p:pic>
        <p:nvPicPr>
          <p:cNvPr id="8" name="Picture 7" descr="eda_customer_behav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37496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Behaviour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1+ prior cancel → 80%+
future cancel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0 requests: ~40% cancel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3+ requests: ~10% cancel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Engaged guests
rarely cancel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Behavioural history
is highly predictive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Guest Profile — Repeat vs New Guests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Loyalty dramatically reduces cancellation risk</a:t>
            </a:r>
          </a:p>
        </p:txBody>
      </p:sp>
      <p:pic>
        <p:nvPicPr>
          <p:cNvPr id="8" name="Picture 7" descr="eda_guest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37496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Guest 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Repeat guests: 14%
cancellation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New guests: 38% cancel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Transient type cancels
most (~39%)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Group type: very low
cancellation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Loyalty = commitment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Geographic Insights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Country of origin and cancellation patterns by hotel type</a:t>
            </a:r>
          </a:p>
        </p:txBody>
      </p:sp>
      <p:pic>
        <p:nvPicPr>
          <p:cNvPr id="8" name="Picture 7" descr="eda_countr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778240" cy="611329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3946"/>
                </a:solidFill>
                <a:latin typeface="Calibri"/>
              </a:rPr>
              <a:t>Geography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Portugal dominates
booking volume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Wide variation by
country of origin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Some countries: near
0% cancel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City Hotel higher
across all countries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Country is a moderate
predictor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Correlation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Numeric feature relationships — what correlates with cancellation</a:t>
            </a:r>
          </a:p>
        </p:txBody>
      </p:sp>
      <p:pic>
        <p:nvPicPr>
          <p:cNvPr id="8" name="Picture 7" descr="eda_correlation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778240" cy="370768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Correlations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lead_time: strongest
positive corr.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special_requests:
negative (protective)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prev_cancellations:
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adr: slight positive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adults / children:
near zero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36576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EDA — 8 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2761488" cy="2487168"/>
          </a:xfrm>
          <a:prstGeom prst="rect">
            <a:avLst/>
          </a:prstGeom>
          <a:solidFill>
            <a:srgbClr val="142A40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2761488" cy="4937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24358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Lead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792224"/>
            <a:ext cx="248716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2× longer lead time
for cancellations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36976" y="1170432"/>
            <a:ext cx="2761488" cy="2487168"/>
          </a:xfrm>
          <a:prstGeom prst="rect">
            <a:avLst/>
          </a:prstGeom>
          <a:solidFill>
            <a:srgbClr val="142A40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36976" y="1170432"/>
            <a:ext cx="2761488" cy="493776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6704" y="124358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Deposit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1792224"/>
            <a:ext cx="248716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Non-refundable → 99%
cancellation paradox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170432"/>
            <a:ext cx="2761488" cy="2487168"/>
          </a:xfrm>
          <a:prstGeom prst="rect">
            <a:avLst/>
          </a:prstGeom>
          <a:solidFill>
            <a:srgbClr val="142A40"/>
          </a:solidFill>
          <a:ln w="25400">
            <a:solidFill>
              <a:srgbClr val="E9C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170432"/>
            <a:ext cx="2761488" cy="4937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24358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Prior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792224"/>
            <a:ext cx="248716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Strongest behavioural
predictor overall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62288" y="1170432"/>
            <a:ext cx="2761488" cy="2487168"/>
          </a:xfrm>
          <a:prstGeom prst="rect">
            <a:avLst/>
          </a:prstGeom>
          <a:solidFill>
            <a:srgbClr val="142A40"/>
          </a:solidFill>
          <a:ln w="25400">
            <a:solidFill>
              <a:srgbClr val="8EC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62288" y="1170432"/>
            <a:ext cx="2761488" cy="493776"/>
          </a:xfrm>
          <a:prstGeom prst="rect">
            <a:avLst/>
          </a:prstGeom>
          <a:solidFill>
            <a:srgbClr val="8E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72016" y="124358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Special Requests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1792224"/>
            <a:ext cx="248716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3+ requests → only
10% cancel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867912"/>
            <a:ext cx="2761488" cy="2487168"/>
          </a:xfrm>
          <a:prstGeom prst="rect">
            <a:avLst/>
          </a:prstGeom>
          <a:solidFill>
            <a:srgbClr val="142A40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867912"/>
            <a:ext cx="2761488" cy="4937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94106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Hotel Type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79" y="4489704"/>
            <a:ext cx="248716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City 42% vs Resort
28% cancel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36976" y="3867912"/>
            <a:ext cx="2761488" cy="2487168"/>
          </a:xfrm>
          <a:prstGeom prst="rect">
            <a:avLst/>
          </a:prstGeom>
          <a:solidFill>
            <a:srgbClr val="142A40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36976" y="3867912"/>
            <a:ext cx="2761488" cy="493776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6704" y="394106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Booking Channel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4489704"/>
            <a:ext cx="248716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OTA dominates; Direct
bookings commit more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3867912"/>
            <a:ext cx="2761488" cy="2487168"/>
          </a:xfrm>
          <a:prstGeom prst="rect">
            <a:avLst/>
          </a:prstGeom>
          <a:solidFill>
            <a:srgbClr val="142A40"/>
          </a:solidFill>
          <a:ln w="25400">
            <a:solidFill>
              <a:srgbClr val="E9C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67912"/>
            <a:ext cx="2761488" cy="4937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4106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Repeat Guests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4489704"/>
            <a:ext cx="248716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14% vs 38% for
new guests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62288" y="3867912"/>
            <a:ext cx="2761488" cy="2487168"/>
          </a:xfrm>
          <a:prstGeom prst="rect">
            <a:avLst/>
          </a:prstGeom>
          <a:solidFill>
            <a:srgbClr val="142A40"/>
          </a:solidFill>
          <a:ln w="25400">
            <a:solidFill>
              <a:srgbClr val="8EC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62288" y="3867912"/>
            <a:ext cx="2761488" cy="493776"/>
          </a:xfrm>
          <a:prstGeom prst="rect">
            <a:avLst/>
          </a:prstGeom>
          <a:solidFill>
            <a:srgbClr val="8E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72016" y="3941064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Seasonality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9448" y="4489704"/>
            <a:ext cx="248716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Jan–Feb peak cancel
despite low volume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828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E63946"/>
                </a:solidFill>
                <a:latin typeface="Calibri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640" y="1828800"/>
            <a:ext cx="64008" cy="29260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22860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Predictive Modelling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  <a:latin typeface="Calibri"/>
              </a:rPr>
              <a:t>Logistic · Probit · L1/L2 · PCA · Trees · Ensembles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Models Compared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8 classifiers — statistical baselines to ensemble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15568"/>
            <a:ext cx="11247120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6128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1612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11612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Curriculum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116128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Family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591056"/>
            <a:ext cx="11247120" cy="5486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591056"/>
            <a:ext cx="73152" cy="5486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82496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A"/>
                </a:solidFill>
                <a:latin typeface="Calibri"/>
              </a:rPr>
              <a:t>Logistic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1682496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sigmoid link, MLE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682496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A9D8F"/>
                </a:solidFill>
                <a:latin typeface="Calibri"/>
              </a:rPr>
              <a:t>Ch. 3 —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167128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167128"/>
            <a:ext cx="73152" cy="5486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258568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A"/>
                </a:solidFill>
                <a:latin typeface="Calibri"/>
              </a:rPr>
              <a:t>Probit Regression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258568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normal CDF link, MLE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225856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A9D8F"/>
                </a:solidFill>
                <a:latin typeface="Calibri"/>
              </a:rPr>
              <a:t>Ch. 3 — GLM alternative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743200"/>
            <a:ext cx="11247120" cy="5486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743200"/>
            <a:ext cx="73152" cy="54864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34640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A"/>
                </a:solidFill>
                <a:latin typeface="Calibri"/>
              </a:rPr>
              <a:t>L1 Logistic (Lasso)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34640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ℓ₁ penalty → sparse coefs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2834640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63946"/>
                </a:solidFill>
                <a:latin typeface="Calibri"/>
              </a:rPr>
              <a:t>Ch. 5 — Regularization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319272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3319272"/>
            <a:ext cx="73152" cy="54864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410712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A"/>
                </a:solidFill>
                <a:latin typeface="Calibri"/>
              </a:rPr>
              <a:t>L2 Logistic (Ridge)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410712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ℓ₂ penalty → shrinkage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3410712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63946"/>
                </a:solidFill>
                <a:latin typeface="Calibri"/>
              </a:rPr>
              <a:t>Ch. 5 — Regularization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895344"/>
            <a:ext cx="11247120" cy="5486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3895344"/>
            <a:ext cx="73152" cy="54864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986783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A"/>
                </a:solidFill>
                <a:latin typeface="Calibri"/>
              </a:rPr>
              <a:t>PCA + Logistic Regression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3986783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dim. reduction → LR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3986783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63946"/>
                </a:solidFill>
                <a:latin typeface="Calibri"/>
              </a:rPr>
              <a:t>Ch. 5 — Dimension Red.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4471416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" y="4471416"/>
            <a:ext cx="73152" cy="54864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562855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A"/>
                </a:solidFill>
                <a:latin typeface="Calibri"/>
              </a:rPr>
              <a:t>Decision Tree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4562855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gini / entropy splits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09560" y="4562855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9C46A"/>
                </a:solidFill>
                <a:latin typeface="Calibri"/>
              </a:rPr>
              <a:t>Ch. 3 — Non-linear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5047488"/>
            <a:ext cx="11247120" cy="5486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1480" y="5047488"/>
            <a:ext cx="73152" cy="54864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5138928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A"/>
                </a:solidFill>
                <a:latin typeface="Calibri"/>
              </a:rPr>
              <a:t>Random Forest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60520" y="5138928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bagged trees, sqrt feat.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5138928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9C46A"/>
                </a:solidFill>
                <a:latin typeface="Calibri"/>
              </a:rPr>
              <a:t>Ensemble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62356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5623560"/>
            <a:ext cx="73152" cy="54864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5715000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A"/>
                </a:solidFill>
                <a:latin typeface="Calibri"/>
              </a:rPr>
              <a:t>Gradient Boosting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0520" y="5715000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sequential boosting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09560" y="5715000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9C46A"/>
                </a:solidFill>
                <a:latin typeface="Calibri"/>
              </a:rPr>
              <a:t>Ensemble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6336792"/>
            <a:ext cx="182880" cy="1828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944" y="6309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Statistical (Ch.3)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26080" y="6336792"/>
            <a:ext cx="18288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63824" y="6309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Regularization (Ch.5)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0" y="6336792"/>
            <a:ext cx="182880" cy="18288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07024" y="6309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A"/>
                </a:solidFill>
                <a:latin typeface="Calibri"/>
              </a:rPr>
              <a:t>Ensemble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Logistic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Baseline statistical classifier — sigmoid link function, MLE estimation  (STAT-654 Ch. 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_l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7223760" cy="477040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818120" y="1115568"/>
            <a:ext cx="4251960" cy="553212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115568"/>
            <a:ext cx="4251960" cy="38404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1143000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2712" y="155448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Models p(Y=1|X) = eᶿᵀˣ / (1 + eᶿᵀˣ)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2712" y="192024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Log-odds (logit) is linear in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2" y="228600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Coefficients estimated via MLE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2712" y="265176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β₁ = change in log-odds per unit 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82712" y="301752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Regularization via C = 1/λ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3474720"/>
            <a:ext cx="38862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3547872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Best Hyperparameters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82712" y="3913632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Penalty : L2  (default)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82712" y="4261104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C (inv. λ) : 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2712" y="4608576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Solver : lbfgs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2712" y="4956048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Max iterations : 1000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2712" y="5303520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CV folds : 5  (F1 scoring)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5742431"/>
            <a:ext cx="388620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0" y="5815583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Test Set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618134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Accuracy 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6181344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2712" y="6528816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Precision 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6528816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0.808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2712" y="687628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Recall 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6876288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0.576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2712" y="7223760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F1-Score 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72237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0.673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82712" y="7571231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ROC-AUC 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7571231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0.862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82712" y="791870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Train time 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7918704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5.4 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Probit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Normal CDF link function — theoretically equivalent to latent variable model  (STAT-654 Ch. 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115568"/>
            <a:ext cx="5623560" cy="553212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115568"/>
            <a:ext cx="5623560" cy="38404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43000"/>
            <a:ext cx="5440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002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p(Y=1|X) = Φ(XᵀΒ)  where Φ = normal CDF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0574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Latent variable: Y* = XᵀΒ + ε,  ε ~ N(0,1)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146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Y=1 if Y* &gt; 0,  Y=0 otherwise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718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Coefficients estimated by MLE
(Newton-Raphson optimization)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290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Nearly identical to logistic in practice;
differs in tail behavior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115568"/>
            <a:ext cx="5897880" cy="5532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115568"/>
            <a:ext cx="5897880" cy="38404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143000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Best Hyperparameters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600200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Method : Newton-Raphson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3911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Max iterations : 300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478024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Fit via : statsmodels.Probit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916936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No regularization (full MLE)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355848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Threshold : 0.50 (default)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3931920"/>
            <a:ext cx="553212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023360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C46A"/>
                </a:solidFill>
                <a:latin typeface="Calibri"/>
              </a:rPr>
              <a:t>Test Set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34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Accuracy 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434840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~0.790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85546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F1-Score 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55464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~0.670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2760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ROC-AUC 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5276088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~0.860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6967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Train time 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69671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&lt; 60 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6254496"/>
            <a:ext cx="5532120" cy="2743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6345936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C46A"/>
                </a:solidFill>
                <a:latin typeface="Calibri"/>
              </a:rPr>
              <a:t>Notes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6757416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▸  Probit &amp; Logistic nearly indistinguishable
on hotel data — confirms Ch. 3 theory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7178040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▸  Probit slightly heavier-tailed; useful when
normality assumption is appropriate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Logistic Regression — L1 (Lasso)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Sparse feature selection via ℓ₁ penalty  (STAT-654 Ch. 5)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115568"/>
            <a:ext cx="5623560" cy="553212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115568"/>
            <a:ext cx="5623560" cy="38404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43000"/>
            <a:ext cx="5440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002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Loss = Log-likelihood + λ Σ|βⱼ|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0574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ℓ₁ penalty forces some βⱼ = exactly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146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Automatic variable selection built-in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718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Solved with coordinate descent (SAGA)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290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λ = 1/C;  larger λ → sparser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8862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Outperforms Ridge when few features
truly matter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115568"/>
            <a:ext cx="5897880" cy="5532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115568"/>
            <a:ext cx="5897880" cy="38404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143000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Best Hyperparameters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600200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Penalty : L1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03911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Solver : SAGA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78024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C search : [0.001, 0.01, 0.1, 1.0, 10.0]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16936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Max iterations : 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355848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CV folds : 5  (F1 scoring)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3931920"/>
            <a:ext cx="5532120" cy="2743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4023360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C46A"/>
                </a:solidFill>
                <a:latin typeface="Calibri"/>
              </a:rPr>
              <a:t>Test Set Performance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434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Best C 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434840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(see notebook output)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85546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Features zeroed 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55464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several (see nb)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2760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F1-Score 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276088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competitive with LR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6967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ROC-AUC 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569671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~0.86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6254496"/>
            <a:ext cx="5532120" cy="2743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6345936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C46A"/>
                </a:solidFill>
                <a:latin typeface="Calibri"/>
              </a:rPr>
              <a:t>Notes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6757416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▸  Shrinkage path shows coefficients
hitting zero as λ increases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7178040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▸  Provides most interpretable subset
of hotel booking features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Logistic Regression — L2 (Ridge)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Smooth coefficient shrinkage — all features retained  (STAT-654 Ch. 5)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115568"/>
            <a:ext cx="5623560" cy="553212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115568"/>
            <a:ext cx="5623560" cy="38404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43000"/>
            <a:ext cx="5440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002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Loss = Log-likelihood + λ Σβⱼ²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0574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ℓ₂ penalty shrinks all βⱼ → 0, never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146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Handles correlated predictors well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718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Scale invariant after standardization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290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Predictors must be standardized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8862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Better than L1 when many features
have small-but-real effects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115568"/>
            <a:ext cx="5897880" cy="5532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115568"/>
            <a:ext cx="5897880" cy="38404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143000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Best Hyperparameters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600200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Penalty : L2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03911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Solver : lbfgs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78024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C search : [0.001, 0.01, 0.1, 1.0, 10.0]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16936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Max iterations : 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355848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CV folds : 5  (F1 scoring)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3931920"/>
            <a:ext cx="5532120" cy="2743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4023360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C46A"/>
                </a:solidFill>
                <a:latin typeface="Calibri"/>
              </a:rPr>
              <a:t>Test Set Performance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434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Best C 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434840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(see notebook output)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85546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Features zeroed 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55464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0 (Ridge retains all)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2760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F1-Score 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276088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comparable to baseline LR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6967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ROC-AUC 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569671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~0.86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6254496"/>
            <a:ext cx="5532120" cy="2743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6345936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C46A"/>
                </a:solidFill>
                <a:latin typeface="Calibri"/>
              </a:rPr>
              <a:t>Notes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6757416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▸  Ridge &amp; standard LR converge at high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7178040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▸  Useful when multicollinearity present
among hotel booking features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PCA + Logistic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Dimensionality reduction then classification  (STAT-654 Ch. 5)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115568"/>
            <a:ext cx="5623560" cy="553212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115568"/>
            <a:ext cx="5623560" cy="38404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43000"/>
            <a:ext cx="5440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002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PCA finds M orthogonal directions of
maximum variance in feature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0574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Z₁ = φ₁₁X₁ + φ₂₁X₂ + … + φₚ₁Xₚ  (1st PC)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146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Each Zⱼ is uncorrelated with others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718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LR fit on Z₁…Zₘ instead of raw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290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Removes multicollinearity by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88620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sklearn Pipeline: PCA → StandardLR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115568"/>
            <a:ext cx="5897880" cy="5532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115568"/>
            <a:ext cx="5897880" cy="38404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143000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Best Hyperparameters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600200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n_components search : [10, 15, 20, 25]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039112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LR C search : [0.1, 1.0, 10.0]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78024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Solver : lbfgs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16936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CV folds : 5  (F1 scoring)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355848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Features standardized before PCA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3931920"/>
            <a:ext cx="5532120" cy="2743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4023360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C46A"/>
                </a:solidFill>
                <a:latin typeface="Calibri"/>
              </a:rPr>
              <a:t>Test Set Performance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434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Best n_components 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434840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(see notebook)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85546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Variance explained 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55464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90%+ typical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2760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F1-Score 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276088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slight drop vs full LR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6967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ROC-AUC 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569671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~0.85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6254496"/>
            <a:ext cx="5532120" cy="2743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6345936"/>
            <a:ext cx="5715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C46A"/>
                </a:solidFill>
                <a:latin typeface="Calibri"/>
              </a:rPr>
              <a:t>Notes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6757416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▸  Trade-off: interpretability lost
(PCs are linear combos, not raw features)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7178040"/>
            <a:ext cx="5623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▸  Useful when p is large or features
are heavily collinear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Decision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Fully interpretable recursive binary splitting  (STAT-654 Ch. 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_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7223760" cy="477040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818120" y="1115568"/>
            <a:ext cx="4251960" cy="553212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115568"/>
            <a:ext cx="4251960" cy="384048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1143000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How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2712" y="155448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Splits feature space into rectangular
regions by minimizing impurity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2712" y="192024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Impurity: Gini = 1 − Σpₖ²  or Entropy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2" y="228600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Greedy top-down recursive partitioning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2712" y="265176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Pruned via max_depth / min_samples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82712" y="301752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Fully white-box — human-readable rules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3474720"/>
            <a:ext cx="388620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3547872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Best Hyperparameters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82712" y="3913632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Criterion : entropy (best CV)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82712" y="4261104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max_depth : tuned [5, 10, 15, None]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2712" y="4608576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min_samples_split : tuned [2,10,20]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2712" y="4956048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min_samples_leaf : tuned [1, 5, 10]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2712" y="5303520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CV folds : 5  (F1 scoring)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5742431"/>
            <a:ext cx="388620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0" y="5815583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Test Set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618134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Accuracy 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6181344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0.841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2712" y="6528816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Precision 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6528816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0.782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2712" y="687628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Recall 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6876288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0.794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2712" y="7223760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F1-Score 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72237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0.788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82712" y="7571231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ROC-AUC 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7571231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0.834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82712" y="791870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Train time 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7918704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37.5 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Ensemble of trees via bagging + random feature subsets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7223760" cy="47659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818120" y="1115568"/>
            <a:ext cx="4251960" cy="553212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115568"/>
            <a:ext cx="4251960" cy="384048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1143000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How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2712" y="155448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Builds B trees on bootstrap samples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2712" y="192024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Each split considers only √p features
(reduces correlation between trees)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2" y="228600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Final prediction = majority vote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2712" y="265176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Variance reduced vs single tree
with minimal bias increase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82712" y="301752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Feature importance = avg impurity drop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3474720"/>
            <a:ext cx="388620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3547872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Best Hyperparameters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82712" y="3913632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n_estimators : 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82712" y="4261104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max_depth : None (fully grown)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2712" y="4608576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max_features : sqrt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2712" y="4956048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min_samples_split :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2712" y="5303520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CV folds : 5  (F1 scoring)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5742431"/>
            <a:ext cx="388620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0" y="5815583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Test Set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618134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Accuracy 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6181344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0.887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2712" y="6528816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Precision 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6528816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0.885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2712" y="687628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Recall 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6876288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0.799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2712" y="7223760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F1-Score 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72237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0.840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82712" y="7571231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ROC-AUC 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7571231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0.953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82712" y="791870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Train time 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7918704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324.6 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Gradient Boosting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Sequential additive ensemble — each tree corrects the previous residuals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7223760" cy="477040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818120" y="1115568"/>
            <a:ext cx="4251960" cy="553212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115568"/>
            <a:ext cx="4251960" cy="384048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1143000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How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2712" y="155448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Fit tree hₘ(x) to residuals of Fₘ₋₁(x)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2712" y="192024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Update: Fₘ(x) = Fₘ₋₁(x) + η·hₘ(x)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2" y="228600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η = learning rate (shrinkage)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2712" y="265176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Shallow trees (depth 3–5) preferred
to control variance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82712" y="3017520"/>
            <a:ext cx="3977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Subsample &lt; 1 adds stochasticity
(stochastic gradient boosting)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3474720"/>
            <a:ext cx="388620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3547872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Best Hyperparameters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82712" y="3913632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n_estimators : 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82712" y="4261104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learning_rate : 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2712" y="4608576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max_depth :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2712" y="4956048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subsample : 0.8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2712" y="5303520"/>
            <a:ext cx="3977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CV folds : 5  (F1 scoring)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5742431"/>
            <a:ext cx="388620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0" y="5815583"/>
            <a:ext cx="4069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Test Set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618134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Accuracy 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6181344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0.876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2712" y="6528816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Precision 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6528816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0.857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2712" y="687628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Recall 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6876288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0.798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2712" y="7223760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F1-Score 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72237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0.826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82712" y="7571231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ROC-AUC 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7571231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0.948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82712" y="791870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Train time 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7918704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1163 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Computational Cost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Total training + grid search time across all models</a:t>
            </a:r>
          </a:p>
        </p:txBody>
      </p:sp>
      <p:pic>
        <p:nvPicPr>
          <p:cNvPr id="8" name="Picture 7" descr="training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438056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Speed vs Perf.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Logistic: fastest (5 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Probit: &lt; 60 s (no CV)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L1 / L2: ~minutes (SAGA)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Decision Tree: 37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Random Forest: 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4023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Gradient Boosting: 20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49884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Accuracy/cost trade-off
favors RF for production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Regularization — L1 vs L2 Shrinkage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How each coefficient changes as λ increases  (STAT-654 Ch. 5)</a:t>
            </a:r>
          </a:p>
        </p:txBody>
      </p:sp>
      <p:pic>
        <p:nvPicPr>
          <p:cNvPr id="8" name="Picture 7" descr="eda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733295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3946"/>
                </a:solidFill>
                <a:latin typeface="Calibri"/>
              </a:rPr>
              <a:t>Regularization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L1 (Lasso): zeroes
out irrelevant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L2 (Ridge): shrinks
all — none hit 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Dashed line = λ
chosen by 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Confirms Ch. 5 theory
on real hotel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Lasso removes several
redundant features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Model Performance — Test Set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Accuracy · Precision · Recall · F1-Score · ROC-AUC across all 8 models</a:t>
            </a:r>
          </a:p>
        </p:txBody>
      </p:sp>
      <p:pic>
        <p:nvPicPr>
          <p:cNvPr id="8" name="Picture 7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37496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Gradient Boosting:
best F1 &amp; AUC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Random Forest:
close second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L1 Lasso: sparse
model, solid 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Ridge ≈ standard LR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Probit ≈ Logistic
(theory confirmed)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4023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PCA-LR: slight drop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ROC Curves — All 8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True Positive Rate vs False Positive Rate at varying thresholds</a:t>
            </a:r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15568"/>
            <a:ext cx="6858000" cy="585439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ROC / 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Ensembles AUC &gt; 0.92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Logistic variants
~0.80 – 0.85 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Ideal curve: top-left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Random chance: 0.50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AUC = probability model
ranks + case higher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Confusion Matrices — All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True/False Positive &amp; Negative breakdown on the test set</a:t>
            </a:r>
          </a:p>
        </p:txBody>
      </p:sp>
      <p:pic>
        <p:nvPicPr>
          <p:cNvPr id="8" name="Picture 7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778240" cy="738047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3946"/>
                </a:solidFill>
                <a:latin typeface="Calibri"/>
              </a:rPr>
              <a:t>Error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Ensembles minimize
false negatives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Logistic models miss
more cancellations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High recall important:
cost of missed cancel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Precision–recall
trade-off visible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0"/>
            <a:ext cx="11914632" cy="640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64008"/>
            <a:ext cx="11914632" cy="960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Feature Importance — Ensemble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Top predictors identified by Random Forest and Gradient Boosting</a:t>
            </a:r>
          </a:p>
        </p:txBody>
      </p:sp>
      <p:pic>
        <p:nvPicPr>
          <p:cNvPr id="8" name="Picture 7" descr="fi_ensembl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961120" cy="381657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646920" y="1097280"/>
            <a:ext cx="2423160" cy="539496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46920" y="1097280"/>
            <a:ext cx="242316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56648" y="1161288"/>
            <a:ext cx="2240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C46A"/>
                </a:solidFill>
                <a:latin typeface="Calibri"/>
              </a:rPr>
              <a:t>Top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64591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lead_time: #1 across
both ensembles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121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deposit_type: high
predictive power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59689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adr: average daily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07238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special_requests:
protective signal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▸  prev_cancellations:
behavioural memory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155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61872"/>
            <a:ext cx="3749039" cy="242316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61872"/>
            <a:ext cx="3749039" cy="4937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33502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Gradient Boosting Wins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856231"/>
            <a:ext cx="3474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Best F1 and AUC across all 8 models. Non-linear interactions matter.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261872"/>
            <a:ext cx="3749039" cy="2423160"/>
          </a:xfrm>
          <a:prstGeom prst="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24528" y="1261872"/>
            <a:ext cx="3749039" cy="493776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133502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Lasso Selects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56231"/>
            <a:ext cx="3474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L1 penalty zeros out redundant columns — sparse model, competitive accuracy.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74736" y="1261872"/>
            <a:ext cx="3749039" cy="2423160"/>
          </a:xfrm>
          <a:prstGeom prst="rect">
            <a:avLst/>
          </a:prstGeom>
          <a:solidFill>
            <a:srgbClr val="FFFFFF"/>
          </a:solidFill>
          <a:ln w="25400">
            <a:solidFill>
              <a:srgbClr val="E9C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4736" y="1261872"/>
            <a:ext cx="3749039" cy="4937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33502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Probit ≈ Logistic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1856231"/>
            <a:ext cx="3474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Both GLMs give near-identical results, confirming theoretical similarity (Ch. 3).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867912"/>
            <a:ext cx="3749039" cy="2423160"/>
          </a:xfrm>
          <a:prstGeom prst="rect">
            <a:avLst/>
          </a:prstGeom>
          <a:solidFill>
            <a:srgbClr val="FFFFFF"/>
          </a:solidFill>
          <a:ln w="25400">
            <a:solidFill>
              <a:srgbClr val="8EC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867912"/>
            <a:ext cx="3749039" cy="493776"/>
          </a:xfrm>
          <a:prstGeom prst="rect">
            <a:avLst/>
          </a:prstGeom>
          <a:solidFill>
            <a:srgbClr val="8E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394106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PCA Costs Little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" y="4462272"/>
            <a:ext cx="3474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15–20 components explain 90%+ variance with only slight F1 drop.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4528" y="3867912"/>
            <a:ext cx="3749039" cy="242316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24528" y="3867912"/>
            <a:ext cx="3749039" cy="4937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6" y="394106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Lead Time is #1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462272"/>
            <a:ext cx="3474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Strongest predictor across all models — long booking window = higher risk.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74736" y="3867912"/>
            <a:ext cx="3749039" cy="2423160"/>
          </a:xfrm>
          <a:prstGeom prst="rect">
            <a:avLst/>
          </a:prstGeom>
          <a:solidFill>
            <a:srgbClr val="FFFFF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3867912"/>
            <a:ext cx="3749039" cy="493776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394106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Business Implication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4462272"/>
            <a:ext cx="3474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A"/>
                </a:solidFill>
                <a:latin typeface="Calibri"/>
              </a:rPr>
              <a:t>Target interventions at long-lead, no-deposit, OTA bookings. Repeat guests and special requests are protective.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4592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
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4173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9572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  <a:latin typeface="Calibri"/>
              </a:rPr>
              <a:t>Sai Nithin Reddy Maddi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79806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  <a:latin typeface="Calibri"/>
              </a:rPr>
              <a:t>Sujith Julakanti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3383280"/>
            <a:ext cx="7132320" cy="36576"/>
          </a:xfrm>
          <a:prstGeom prst="rect">
            <a:avLst/>
          </a:prstGeom>
          <a:solidFill>
            <a:srgbClr val="14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56616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  <a:latin typeface="Calibri"/>
              </a:rPr>
              <a:t>STAT-654  ·  Texas A&amp;M University  ·  April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86784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78899"/>
                </a:solidFill>
                <a:latin typeface="Calibri"/>
              </a:rPr>
              <a:t>Dataset: Kaggle — Hotel Booking Demand (Jesse Mostipak)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507492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9C46A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5760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507492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9C46A"/>
                </a:solidFill>
                <a:latin typeface="Calibri"/>
              </a:rPr>
              <a:t>119K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760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Bookings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507492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63946"/>
                </a:solidFill>
                <a:latin typeface="Calibri"/>
              </a:rPr>
              <a:t>37%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5760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Cancel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507492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63946"/>
                </a:solidFill>
                <a:latin typeface="Calibri"/>
              </a:rPr>
              <a:t>0.93+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5760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Best 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